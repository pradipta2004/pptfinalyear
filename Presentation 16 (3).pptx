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9" r:id="rId5"/>
    <p:sldId id="265" r:id="rId6"/>
    <p:sldId id="270" r:id="rId7"/>
    <p:sldId id="272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7F9D0-2A4B-A86D-CD84-90EBCB1CC2CA}" v="88" dt="2025-12-17T19:15:40.697"/>
    <p1510:client id="{5E659CA6-DBD3-4D93-1651-AEABD12A0907}" v="307" dt="2025-12-17T19:27:09.476"/>
    <p1510:client id="{82190E1E-CB93-4465-9604-9ED4B8169A35}" v="9" dt="2025-12-17T12:26:25.984"/>
    <p1510:client id="{93471791-12A7-33D4-D4DB-9C526D111255}" v="13" dt="2025-12-18T03:21:05.316"/>
    <p1510:client id="{A777755A-5FED-4233-310D-49512AC52DDF}" v="998" dt="2025-12-17T20:02:16.312"/>
    <p1510:client id="{FF4E0E41-E405-7B7C-20BE-14984FC37F84}" v="54" dt="2025-12-17T19:10:57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139434-7C97-4205-A06D-4210EE91D1B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A9B7BA-6A92-4F9F-8175-A61B56A3F3F4}">
      <dgm:prSet/>
      <dgm:spPr/>
      <dgm:t>
        <a:bodyPr/>
        <a:lstStyle/>
        <a:p>
          <a:r>
            <a:rPr lang="en-US"/>
            <a:t>ML/DL-based disease detection has grown with the expansion of healthcare data</a:t>
          </a:r>
        </a:p>
      </dgm:t>
    </dgm:pt>
    <dgm:pt modelId="{AB2256E1-B1C4-406C-94F0-F79E8F1BB699}" type="parTrans" cxnId="{764F3951-CA43-4B38-836F-F09322CD3AC4}">
      <dgm:prSet/>
      <dgm:spPr/>
      <dgm:t>
        <a:bodyPr/>
        <a:lstStyle/>
        <a:p>
          <a:endParaRPr lang="en-US"/>
        </a:p>
      </dgm:t>
    </dgm:pt>
    <dgm:pt modelId="{D1F2936E-6474-4A60-A567-58558CD7BF68}" type="sibTrans" cxnId="{764F3951-CA43-4B38-836F-F09322CD3AC4}">
      <dgm:prSet/>
      <dgm:spPr/>
      <dgm:t>
        <a:bodyPr/>
        <a:lstStyle/>
        <a:p>
          <a:endParaRPr lang="en-US"/>
        </a:p>
      </dgm:t>
    </dgm:pt>
    <dgm:pt modelId="{0C4A3C4C-6A09-4692-B92C-9EF39320D6D2}">
      <dgm:prSet/>
      <dgm:spPr/>
      <dgm:t>
        <a:bodyPr/>
        <a:lstStyle/>
        <a:p>
          <a:r>
            <a:rPr lang="en-US"/>
            <a:t>Most AI models are not yet production-ready for real clinical deployment</a:t>
          </a:r>
        </a:p>
      </dgm:t>
    </dgm:pt>
    <dgm:pt modelId="{E74B9AA0-7231-4AD1-A80E-070FD2A005CA}" type="parTrans" cxnId="{EF5414CB-ECEA-4139-A617-B0D883DD82BB}">
      <dgm:prSet/>
      <dgm:spPr/>
      <dgm:t>
        <a:bodyPr/>
        <a:lstStyle/>
        <a:p>
          <a:endParaRPr lang="en-US"/>
        </a:p>
      </dgm:t>
    </dgm:pt>
    <dgm:pt modelId="{5CC97887-521A-435B-853A-C180E20D53C4}" type="sibTrans" cxnId="{EF5414CB-ECEA-4139-A617-B0D883DD82BB}">
      <dgm:prSet/>
      <dgm:spPr/>
      <dgm:t>
        <a:bodyPr/>
        <a:lstStyle/>
        <a:p>
          <a:endParaRPr lang="en-US"/>
        </a:p>
      </dgm:t>
    </dgm:pt>
    <dgm:pt modelId="{BA310E13-2588-4C2A-AB24-DB010F6D0DB6}">
      <dgm:prSet/>
      <dgm:spPr/>
      <dgm:t>
        <a:bodyPr/>
        <a:lstStyle/>
        <a:p>
          <a:r>
            <a:rPr lang="en-US"/>
            <a:t>Existing approaches rely on isolated clinical parameters, limiting reliability</a:t>
          </a:r>
        </a:p>
      </dgm:t>
    </dgm:pt>
    <dgm:pt modelId="{3C46D1B4-4F8D-42AB-9027-A2E76E175F42}" type="parTrans" cxnId="{C15B205A-2242-4542-B659-E83EF1668A92}">
      <dgm:prSet/>
      <dgm:spPr/>
      <dgm:t>
        <a:bodyPr/>
        <a:lstStyle/>
        <a:p>
          <a:endParaRPr lang="en-US"/>
        </a:p>
      </dgm:t>
    </dgm:pt>
    <dgm:pt modelId="{5B757E08-6AF6-4A21-804D-A8D0574C0987}" type="sibTrans" cxnId="{C15B205A-2242-4542-B659-E83EF1668A92}">
      <dgm:prSet/>
      <dgm:spPr/>
      <dgm:t>
        <a:bodyPr/>
        <a:lstStyle/>
        <a:p>
          <a:endParaRPr lang="en-US"/>
        </a:p>
      </dgm:t>
    </dgm:pt>
    <dgm:pt modelId="{6F5B027E-16F1-4AF9-B320-9DB1685C4FFD}">
      <dgm:prSet/>
      <dgm:spPr/>
      <dgm:t>
        <a:bodyPr/>
        <a:lstStyle/>
        <a:p>
          <a:r>
            <a:rPr lang="en-US"/>
            <a:t>Cardiovascular assessment requires integrated cardiac and non-cardiac evidence</a:t>
          </a:r>
        </a:p>
      </dgm:t>
    </dgm:pt>
    <dgm:pt modelId="{FDA32EC1-012E-4034-8FD1-AF442EB847AF}" type="parTrans" cxnId="{FEF178C8-68C4-4D59-89A6-38F2D59BA6CE}">
      <dgm:prSet/>
      <dgm:spPr/>
      <dgm:t>
        <a:bodyPr/>
        <a:lstStyle/>
        <a:p>
          <a:endParaRPr lang="en-US"/>
        </a:p>
      </dgm:t>
    </dgm:pt>
    <dgm:pt modelId="{576381AD-BEA1-4AAD-8BD7-461EEEE6B9E0}" type="sibTrans" cxnId="{FEF178C8-68C4-4D59-89A6-38F2D59BA6CE}">
      <dgm:prSet/>
      <dgm:spPr/>
      <dgm:t>
        <a:bodyPr/>
        <a:lstStyle/>
        <a:p>
          <a:endParaRPr lang="en-US"/>
        </a:p>
      </dgm:t>
    </dgm:pt>
    <dgm:pt modelId="{BCE82CB4-F617-4C6D-A81A-969C96B0E11F}">
      <dgm:prSet/>
      <dgm:spPr/>
      <dgm:t>
        <a:bodyPr/>
        <a:lstStyle/>
        <a:p>
          <a:r>
            <a:rPr lang="en-US"/>
            <a:t>Lack of rule-based decision logic reduces clinical trust and consistency</a:t>
          </a:r>
        </a:p>
      </dgm:t>
    </dgm:pt>
    <dgm:pt modelId="{92F8130A-68C3-4075-B448-67B472BE2079}" type="parTrans" cxnId="{B28B6113-75D7-45FA-9D15-20A51B458B0A}">
      <dgm:prSet/>
      <dgm:spPr/>
      <dgm:t>
        <a:bodyPr/>
        <a:lstStyle/>
        <a:p>
          <a:endParaRPr lang="en-US"/>
        </a:p>
      </dgm:t>
    </dgm:pt>
    <dgm:pt modelId="{C36F4538-6D5D-4DB9-B168-7CC820A9AECA}" type="sibTrans" cxnId="{B28B6113-75D7-45FA-9D15-20A51B458B0A}">
      <dgm:prSet/>
      <dgm:spPr/>
      <dgm:t>
        <a:bodyPr/>
        <a:lstStyle/>
        <a:p>
          <a:endParaRPr lang="en-US"/>
        </a:p>
      </dgm:t>
    </dgm:pt>
    <dgm:pt modelId="{EBB47926-F422-4334-9604-BC3954214A4F}">
      <dgm:prSet/>
      <dgm:spPr/>
      <dgm:t>
        <a:bodyPr/>
        <a:lstStyle/>
        <a:p>
          <a:r>
            <a:rPr lang="en-US"/>
            <a:t>These limitations hinder accurate, reliable, and practical clinical decisions</a:t>
          </a:r>
        </a:p>
      </dgm:t>
    </dgm:pt>
    <dgm:pt modelId="{462CF563-CDF8-44EA-B9CA-5FA46B6BA58C}" type="parTrans" cxnId="{C438B6E8-A14C-4A9F-B3C5-5AB7EC29107C}">
      <dgm:prSet/>
      <dgm:spPr/>
      <dgm:t>
        <a:bodyPr/>
        <a:lstStyle/>
        <a:p>
          <a:endParaRPr lang="en-US"/>
        </a:p>
      </dgm:t>
    </dgm:pt>
    <dgm:pt modelId="{A3FD5DBA-8805-4E83-A0B3-9996769E7956}" type="sibTrans" cxnId="{C438B6E8-A14C-4A9F-B3C5-5AB7EC29107C}">
      <dgm:prSet/>
      <dgm:spPr/>
      <dgm:t>
        <a:bodyPr/>
        <a:lstStyle/>
        <a:p>
          <a:endParaRPr lang="en-US"/>
        </a:p>
      </dgm:t>
    </dgm:pt>
    <dgm:pt modelId="{243B8285-C924-4056-A80C-E4F80D0FBDEB}" type="pres">
      <dgm:prSet presAssocID="{8A139434-7C97-4205-A06D-4210EE91D1B2}" presName="diagram" presStyleCnt="0">
        <dgm:presLayoutVars>
          <dgm:dir/>
          <dgm:resizeHandles val="exact"/>
        </dgm:presLayoutVars>
      </dgm:prSet>
      <dgm:spPr/>
    </dgm:pt>
    <dgm:pt modelId="{25AD6618-D0FE-45A8-8DAE-AE544F056437}" type="pres">
      <dgm:prSet presAssocID="{33A9B7BA-6A92-4F9F-8175-A61B56A3F3F4}" presName="node" presStyleLbl="node1" presStyleIdx="0" presStyleCnt="6">
        <dgm:presLayoutVars>
          <dgm:bulletEnabled val="1"/>
        </dgm:presLayoutVars>
      </dgm:prSet>
      <dgm:spPr/>
    </dgm:pt>
    <dgm:pt modelId="{F84EA7CE-F036-4D17-97ED-68D18139A0E3}" type="pres">
      <dgm:prSet presAssocID="{D1F2936E-6474-4A60-A567-58558CD7BF68}" presName="sibTrans" presStyleCnt="0"/>
      <dgm:spPr/>
    </dgm:pt>
    <dgm:pt modelId="{65DAF875-727C-4826-B6E9-CF5B81EC9ED4}" type="pres">
      <dgm:prSet presAssocID="{0C4A3C4C-6A09-4692-B92C-9EF39320D6D2}" presName="node" presStyleLbl="node1" presStyleIdx="1" presStyleCnt="6">
        <dgm:presLayoutVars>
          <dgm:bulletEnabled val="1"/>
        </dgm:presLayoutVars>
      </dgm:prSet>
      <dgm:spPr/>
    </dgm:pt>
    <dgm:pt modelId="{F96A2396-5EF8-4F59-B47F-B09428573F9E}" type="pres">
      <dgm:prSet presAssocID="{5CC97887-521A-435B-853A-C180E20D53C4}" presName="sibTrans" presStyleCnt="0"/>
      <dgm:spPr/>
    </dgm:pt>
    <dgm:pt modelId="{52E569C3-3A67-4C12-A594-CDFA72FC2317}" type="pres">
      <dgm:prSet presAssocID="{BA310E13-2588-4C2A-AB24-DB010F6D0DB6}" presName="node" presStyleLbl="node1" presStyleIdx="2" presStyleCnt="6">
        <dgm:presLayoutVars>
          <dgm:bulletEnabled val="1"/>
        </dgm:presLayoutVars>
      </dgm:prSet>
      <dgm:spPr/>
    </dgm:pt>
    <dgm:pt modelId="{16F1ABB5-58AF-49C6-BAA8-DE0710BEF349}" type="pres">
      <dgm:prSet presAssocID="{5B757E08-6AF6-4A21-804D-A8D0574C0987}" presName="sibTrans" presStyleCnt="0"/>
      <dgm:spPr/>
    </dgm:pt>
    <dgm:pt modelId="{AE6A08E8-AEDF-4B24-B834-61CE808E75DC}" type="pres">
      <dgm:prSet presAssocID="{6F5B027E-16F1-4AF9-B320-9DB1685C4FFD}" presName="node" presStyleLbl="node1" presStyleIdx="3" presStyleCnt="6">
        <dgm:presLayoutVars>
          <dgm:bulletEnabled val="1"/>
        </dgm:presLayoutVars>
      </dgm:prSet>
      <dgm:spPr/>
    </dgm:pt>
    <dgm:pt modelId="{0F05AD07-383F-4BCE-9545-70FF1CA88769}" type="pres">
      <dgm:prSet presAssocID="{576381AD-BEA1-4AAD-8BD7-461EEEE6B9E0}" presName="sibTrans" presStyleCnt="0"/>
      <dgm:spPr/>
    </dgm:pt>
    <dgm:pt modelId="{59135318-3EE6-4699-88AF-811A58573E30}" type="pres">
      <dgm:prSet presAssocID="{BCE82CB4-F617-4C6D-A81A-969C96B0E11F}" presName="node" presStyleLbl="node1" presStyleIdx="4" presStyleCnt="6">
        <dgm:presLayoutVars>
          <dgm:bulletEnabled val="1"/>
        </dgm:presLayoutVars>
      </dgm:prSet>
      <dgm:spPr/>
    </dgm:pt>
    <dgm:pt modelId="{6DB87D16-5209-4E8D-814A-DCEE8B49A65E}" type="pres">
      <dgm:prSet presAssocID="{C36F4538-6D5D-4DB9-B168-7CC820A9AECA}" presName="sibTrans" presStyleCnt="0"/>
      <dgm:spPr/>
    </dgm:pt>
    <dgm:pt modelId="{6C18560D-7293-4707-8E8F-216FA59D8497}" type="pres">
      <dgm:prSet presAssocID="{EBB47926-F422-4334-9604-BC3954214A4F}" presName="node" presStyleLbl="node1" presStyleIdx="5" presStyleCnt="6">
        <dgm:presLayoutVars>
          <dgm:bulletEnabled val="1"/>
        </dgm:presLayoutVars>
      </dgm:prSet>
      <dgm:spPr/>
    </dgm:pt>
  </dgm:ptLst>
  <dgm:cxnLst>
    <dgm:cxn modelId="{F355DA00-23F4-4140-8C87-21C963026E14}" type="presOf" srcId="{BA310E13-2588-4C2A-AB24-DB010F6D0DB6}" destId="{52E569C3-3A67-4C12-A594-CDFA72FC2317}" srcOrd="0" destOrd="0" presId="urn:microsoft.com/office/officeart/2005/8/layout/default"/>
    <dgm:cxn modelId="{01E20A01-46EA-4E47-9580-C4969C93F0D1}" type="presOf" srcId="{8A139434-7C97-4205-A06D-4210EE91D1B2}" destId="{243B8285-C924-4056-A80C-E4F80D0FBDEB}" srcOrd="0" destOrd="0" presId="urn:microsoft.com/office/officeart/2005/8/layout/default"/>
    <dgm:cxn modelId="{744F540C-58E1-43C3-838E-8F95A26A483B}" type="presOf" srcId="{33A9B7BA-6A92-4F9F-8175-A61B56A3F3F4}" destId="{25AD6618-D0FE-45A8-8DAE-AE544F056437}" srcOrd="0" destOrd="0" presId="urn:microsoft.com/office/officeart/2005/8/layout/default"/>
    <dgm:cxn modelId="{B28B6113-75D7-45FA-9D15-20A51B458B0A}" srcId="{8A139434-7C97-4205-A06D-4210EE91D1B2}" destId="{BCE82CB4-F617-4C6D-A81A-969C96B0E11F}" srcOrd="4" destOrd="0" parTransId="{92F8130A-68C3-4075-B448-67B472BE2079}" sibTransId="{C36F4538-6D5D-4DB9-B168-7CC820A9AECA}"/>
    <dgm:cxn modelId="{72BDCA4B-A7E8-49E3-A96B-713F47A15905}" type="presOf" srcId="{6F5B027E-16F1-4AF9-B320-9DB1685C4FFD}" destId="{AE6A08E8-AEDF-4B24-B834-61CE808E75DC}" srcOrd="0" destOrd="0" presId="urn:microsoft.com/office/officeart/2005/8/layout/default"/>
    <dgm:cxn modelId="{764F3951-CA43-4B38-836F-F09322CD3AC4}" srcId="{8A139434-7C97-4205-A06D-4210EE91D1B2}" destId="{33A9B7BA-6A92-4F9F-8175-A61B56A3F3F4}" srcOrd="0" destOrd="0" parTransId="{AB2256E1-B1C4-406C-94F0-F79E8F1BB699}" sibTransId="{D1F2936E-6474-4A60-A567-58558CD7BF68}"/>
    <dgm:cxn modelId="{C15B205A-2242-4542-B659-E83EF1668A92}" srcId="{8A139434-7C97-4205-A06D-4210EE91D1B2}" destId="{BA310E13-2588-4C2A-AB24-DB010F6D0DB6}" srcOrd="2" destOrd="0" parTransId="{3C46D1B4-4F8D-42AB-9027-A2E76E175F42}" sibTransId="{5B757E08-6AF6-4A21-804D-A8D0574C0987}"/>
    <dgm:cxn modelId="{16BAADBE-C555-4BBD-B057-2EA9CF39AA9B}" type="presOf" srcId="{EBB47926-F422-4334-9604-BC3954214A4F}" destId="{6C18560D-7293-4707-8E8F-216FA59D8497}" srcOrd="0" destOrd="0" presId="urn:microsoft.com/office/officeart/2005/8/layout/default"/>
    <dgm:cxn modelId="{1DC30AC3-CF0C-4C3C-9FCD-F755D3E7383F}" type="presOf" srcId="{BCE82CB4-F617-4C6D-A81A-969C96B0E11F}" destId="{59135318-3EE6-4699-88AF-811A58573E30}" srcOrd="0" destOrd="0" presId="urn:microsoft.com/office/officeart/2005/8/layout/default"/>
    <dgm:cxn modelId="{FEF178C8-68C4-4D59-89A6-38F2D59BA6CE}" srcId="{8A139434-7C97-4205-A06D-4210EE91D1B2}" destId="{6F5B027E-16F1-4AF9-B320-9DB1685C4FFD}" srcOrd="3" destOrd="0" parTransId="{FDA32EC1-012E-4034-8FD1-AF442EB847AF}" sibTransId="{576381AD-BEA1-4AAD-8BD7-461EEEE6B9E0}"/>
    <dgm:cxn modelId="{EF5414CB-ECEA-4139-A617-B0D883DD82BB}" srcId="{8A139434-7C97-4205-A06D-4210EE91D1B2}" destId="{0C4A3C4C-6A09-4692-B92C-9EF39320D6D2}" srcOrd="1" destOrd="0" parTransId="{E74B9AA0-7231-4AD1-A80E-070FD2A005CA}" sibTransId="{5CC97887-521A-435B-853A-C180E20D53C4}"/>
    <dgm:cxn modelId="{AAB652D7-9B56-4F25-A503-C911016C6C4C}" type="presOf" srcId="{0C4A3C4C-6A09-4692-B92C-9EF39320D6D2}" destId="{65DAF875-727C-4826-B6E9-CF5B81EC9ED4}" srcOrd="0" destOrd="0" presId="urn:microsoft.com/office/officeart/2005/8/layout/default"/>
    <dgm:cxn modelId="{C438B6E8-A14C-4A9F-B3C5-5AB7EC29107C}" srcId="{8A139434-7C97-4205-A06D-4210EE91D1B2}" destId="{EBB47926-F422-4334-9604-BC3954214A4F}" srcOrd="5" destOrd="0" parTransId="{462CF563-CDF8-44EA-B9CA-5FA46B6BA58C}" sibTransId="{A3FD5DBA-8805-4E83-A0B3-9996769E7956}"/>
    <dgm:cxn modelId="{CD327FF7-DE74-4A64-86FA-A5C75F637CFD}" type="presParOf" srcId="{243B8285-C924-4056-A80C-E4F80D0FBDEB}" destId="{25AD6618-D0FE-45A8-8DAE-AE544F056437}" srcOrd="0" destOrd="0" presId="urn:microsoft.com/office/officeart/2005/8/layout/default"/>
    <dgm:cxn modelId="{D95BD661-8E44-4B04-BB33-F6294BDF8796}" type="presParOf" srcId="{243B8285-C924-4056-A80C-E4F80D0FBDEB}" destId="{F84EA7CE-F036-4D17-97ED-68D18139A0E3}" srcOrd="1" destOrd="0" presId="urn:microsoft.com/office/officeart/2005/8/layout/default"/>
    <dgm:cxn modelId="{5EBD26E4-8C16-402D-903E-257A34AAD7AE}" type="presParOf" srcId="{243B8285-C924-4056-A80C-E4F80D0FBDEB}" destId="{65DAF875-727C-4826-B6E9-CF5B81EC9ED4}" srcOrd="2" destOrd="0" presId="urn:microsoft.com/office/officeart/2005/8/layout/default"/>
    <dgm:cxn modelId="{4A77C8B9-E4B5-4E6A-944B-FAAD1B20C1EA}" type="presParOf" srcId="{243B8285-C924-4056-A80C-E4F80D0FBDEB}" destId="{F96A2396-5EF8-4F59-B47F-B09428573F9E}" srcOrd="3" destOrd="0" presId="urn:microsoft.com/office/officeart/2005/8/layout/default"/>
    <dgm:cxn modelId="{0FD7756B-73FA-4310-823C-325F046101F4}" type="presParOf" srcId="{243B8285-C924-4056-A80C-E4F80D0FBDEB}" destId="{52E569C3-3A67-4C12-A594-CDFA72FC2317}" srcOrd="4" destOrd="0" presId="urn:microsoft.com/office/officeart/2005/8/layout/default"/>
    <dgm:cxn modelId="{30D5F2BF-6055-4FC0-A7B8-6B0AD8E7CEB9}" type="presParOf" srcId="{243B8285-C924-4056-A80C-E4F80D0FBDEB}" destId="{16F1ABB5-58AF-49C6-BAA8-DE0710BEF349}" srcOrd="5" destOrd="0" presId="urn:microsoft.com/office/officeart/2005/8/layout/default"/>
    <dgm:cxn modelId="{9A5E4410-5E3A-4E28-A58E-2880317DA82B}" type="presParOf" srcId="{243B8285-C924-4056-A80C-E4F80D0FBDEB}" destId="{AE6A08E8-AEDF-4B24-B834-61CE808E75DC}" srcOrd="6" destOrd="0" presId="urn:microsoft.com/office/officeart/2005/8/layout/default"/>
    <dgm:cxn modelId="{3F62E3B3-93CB-47CB-9DD2-8A5E4AECD30F}" type="presParOf" srcId="{243B8285-C924-4056-A80C-E4F80D0FBDEB}" destId="{0F05AD07-383F-4BCE-9545-70FF1CA88769}" srcOrd="7" destOrd="0" presId="urn:microsoft.com/office/officeart/2005/8/layout/default"/>
    <dgm:cxn modelId="{D7CB3388-0B4E-47DF-8536-BA1B40ED0066}" type="presParOf" srcId="{243B8285-C924-4056-A80C-E4F80D0FBDEB}" destId="{59135318-3EE6-4699-88AF-811A58573E30}" srcOrd="8" destOrd="0" presId="urn:microsoft.com/office/officeart/2005/8/layout/default"/>
    <dgm:cxn modelId="{3D56C47E-EB5E-4B5B-9C44-6149344A4B94}" type="presParOf" srcId="{243B8285-C924-4056-A80C-E4F80D0FBDEB}" destId="{6DB87D16-5209-4E8D-814A-DCEE8B49A65E}" srcOrd="9" destOrd="0" presId="urn:microsoft.com/office/officeart/2005/8/layout/default"/>
    <dgm:cxn modelId="{CC9ABAAC-AEFD-4F4A-9778-EE32E862F263}" type="presParOf" srcId="{243B8285-C924-4056-A80C-E4F80D0FBDEB}" destId="{6C18560D-7293-4707-8E8F-216FA59D849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457022-A9A7-4514-A832-F2443DCEE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Multifactorial Clinical Analysis Framework</a:t>
          </a:r>
          <a:br>
            <a:rPr lang="en-US"/>
          </a:br>
          <a:r>
            <a:rPr lang="en-US"/>
            <a:t> </a:t>
          </a:r>
        </a:p>
      </dgm:t>
    </dgm:pt>
    <dgm:pt modelId="{AD468366-873D-4529-9264-945113CAE883}" type="parTrans" cxnId="{2E99BBD3-9786-4DF7-851D-CAA6077535A7}">
      <dgm:prSet/>
      <dgm:spPr/>
      <dgm:t>
        <a:bodyPr/>
        <a:lstStyle/>
        <a:p>
          <a:endParaRPr lang="en-US"/>
        </a:p>
      </dgm:t>
    </dgm:pt>
    <dgm:pt modelId="{30EEE1FB-A4BA-4A25-807B-8B863B122B64}" type="sibTrans" cxnId="{2E99BBD3-9786-4DF7-851D-CAA6077535A7}">
      <dgm:prSet/>
      <dgm:spPr/>
      <dgm:t>
        <a:bodyPr/>
        <a:lstStyle/>
        <a:p>
          <a:endParaRPr lang="en-US"/>
        </a:p>
      </dgm:t>
    </dgm:pt>
    <dgm:pt modelId="{5E7373AA-EF29-44F4-8E9D-931618A961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Stepwise, Clinically Approved Diagnostic Workflow</a:t>
          </a:r>
          <a:br>
            <a:rPr lang="en-US"/>
          </a:br>
          <a:endParaRPr lang="en-US"/>
        </a:p>
      </dgm:t>
    </dgm:pt>
    <dgm:pt modelId="{1164A278-54ED-458A-AD35-CDB76E2BFE26}" type="parTrans" cxnId="{0272278B-5EDC-4993-9FAC-B0A559DDACE1}">
      <dgm:prSet/>
      <dgm:spPr/>
      <dgm:t>
        <a:bodyPr/>
        <a:lstStyle/>
        <a:p>
          <a:endParaRPr lang="en-US"/>
        </a:p>
      </dgm:t>
    </dgm:pt>
    <dgm:pt modelId="{D747D28B-1835-4D31-BDE2-33537B848716}" type="sibTrans" cxnId="{0272278B-5EDC-4993-9FAC-B0A559DDACE1}">
      <dgm:prSet/>
      <dgm:spPr/>
      <dgm:t>
        <a:bodyPr/>
        <a:lstStyle/>
        <a:p>
          <a:endParaRPr lang="en-US"/>
        </a:p>
      </dgm:t>
    </dgm:pt>
    <dgm:pt modelId="{34D81310-A67F-4A27-852D-CFE6F2F3E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Hybrid Machine Learning and Deep Learning Architecture</a:t>
          </a:r>
          <a:br>
            <a:rPr lang="en-US"/>
          </a:br>
          <a:endParaRPr lang="en-US"/>
        </a:p>
      </dgm:t>
    </dgm:pt>
    <dgm:pt modelId="{542B3F1A-F2E7-41AB-86FB-FBB39752E3C7}" type="parTrans" cxnId="{A9FDA8E7-0FF3-45FE-BAB8-152943309846}">
      <dgm:prSet/>
      <dgm:spPr/>
      <dgm:t>
        <a:bodyPr/>
        <a:lstStyle/>
        <a:p>
          <a:endParaRPr lang="en-US"/>
        </a:p>
      </dgm:t>
    </dgm:pt>
    <dgm:pt modelId="{5FD2C844-32BA-4259-8396-CEA3952B9B30}" type="sibTrans" cxnId="{A9FDA8E7-0FF3-45FE-BAB8-152943309846}">
      <dgm:prSet/>
      <dgm:spPr/>
      <dgm:t>
        <a:bodyPr/>
        <a:lstStyle/>
        <a:p>
          <a:endParaRPr lang="en-US"/>
        </a:p>
      </dgm:t>
    </dgm:pt>
    <dgm:pt modelId="{18FBC06E-56D2-48E9-9C75-363B5C8A8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 of Cross-Modal Medical Findings</a:t>
          </a:r>
          <a:br>
            <a:rPr lang="en-US"/>
          </a:br>
          <a:r>
            <a:rPr lang="en-US"/>
            <a:t> </a:t>
          </a:r>
        </a:p>
      </dgm:t>
    </dgm:pt>
    <dgm:pt modelId="{D05AC096-D0D2-4C83-B2D5-31B1FAAE12FA}" type="parTrans" cxnId="{F8C99676-2919-45F4-BB06-EFC7DF82E2AE}">
      <dgm:prSet/>
      <dgm:spPr/>
      <dgm:t>
        <a:bodyPr/>
        <a:lstStyle/>
        <a:p>
          <a:endParaRPr lang="en-US"/>
        </a:p>
      </dgm:t>
    </dgm:pt>
    <dgm:pt modelId="{044ADC37-F4D4-4732-9A20-4A8A31570F55}" type="sibTrans" cxnId="{F8C99676-2919-45F4-BB06-EFC7DF82E2AE}">
      <dgm:prSet/>
      <dgm:spPr/>
      <dgm:t>
        <a:bodyPr/>
        <a:lstStyle/>
        <a:p>
          <a:endParaRPr lang="en-US"/>
        </a:p>
      </dgm:t>
    </dgm:pt>
    <dgm:pt modelId="{4A2B7E93-A9BA-488A-BFF2-854BC154F8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Custom-Trained Medical LLM for Clinical Reporting and Decision Support</a:t>
          </a:r>
        </a:p>
      </dgm:t>
    </dgm:pt>
    <dgm:pt modelId="{49090558-2E2C-478F-BBD6-125287864ABF}" type="parTrans" cxnId="{79289929-9600-41F6-8F60-E59FD3D2CF71}">
      <dgm:prSet/>
      <dgm:spPr/>
      <dgm:t>
        <a:bodyPr/>
        <a:lstStyle/>
        <a:p>
          <a:endParaRPr lang="en-US"/>
        </a:p>
      </dgm:t>
    </dgm:pt>
    <dgm:pt modelId="{90EA18A5-B49D-4546-BF02-5619D75922B6}" type="sibTrans" cxnId="{79289929-9600-41F6-8F60-E59FD3D2CF71}">
      <dgm:prSet/>
      <dgm:spPr/>
      <dgm:t>
        <a:bodyPr/>
        <a:lstStyle/>
        <a:p>
          <a:endParaRPr lang="en-US"/>
        </a:p>
      </dgm:t>
    </dgm:pt>
    <dgm:pt modelId="{75A72542-10F4-4C74-8CAB-38FC3CA3BFB1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211225F8-3116-42E2-AF7B-5B94AB48051C}" type="pres">
      <dgm:prSet presAssocID="{3E457022-A9A7-4514-A832-F2443DCEE7E9}" presName="compNode" presStyleCnt="0"/>
      <dgm:spPr/>
    </dgm:pt>
    <dgm:pt modelId="{1CE00A3F-8141-42FF-BB78-4906CA8814AA}" type="pres">
      <dgm:prSet presAssocID="{3E457022-A9A7-4514-A832-F2443DCEE7E9}" presName="bgRect" presStyleLbl="bgShp" presStyleIdx="0" presStyleCnt="5"/>
      <dgm:spPr/>
    </dgm:pt>
    <dgm:pt modelId="{752AF226-3276-4436-BC4F-89B8C247FED0}" type="pres">
      <dgm:prSet presAssocID="{3E457022-A9A7-4514-A832-F2443DCEE7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4032485-EDAD-49D4-8C56-995243C1B52D}" type="pres">
      <dgm:prSet presAssocID="{3E457022-A9A7-4514-A832-F2443DCEE7E9}" presName="spaceRect" presStyleCnt="0"/>
      <dgm:spPr/>
    </dgm:pt>
    <dgm:pt modelId="{617E4D16-9F2F-4E12-A8CD-DD3DA5ADB3D7}" type="pres">
      <dgm:prSet presAssocID="{3E457022-A9A7-4514-A832-F2443DCEE7E9}" presName="parTx" presStyleLbl="revTx" presStyleIdx="0" presStyleCnt="5">
        <dgm:presLayoutVars>
          <dgm:chMax val="0"/>
          <dgm:chPref val="0"/>
        </dgm:presLayoutVars>
      </dgm:prSet>
      <dgm:spPr/>
    </dgm:pt>
    <dgm:pt modelId="{E5326E5D-D677-428C-A151-58E3D032429E}" type="pres">
      <dgm:prSet presAssocID="{30EEE1FB-A4BA-4A25-807B-8B863B122B64}" presName="sibTrans" presStyleCnt="0"/>
      <dgm:spPr/>
    </dgm:pt>
    <dgm:pt modelId="{AF1974E5-F4B0-4BB4-8287-281DC8FF2A96}" type="pres">
      <dgm:prSet presAssocID="{5E7373AA-EF29-44F4-8E9D-931618A96124}" presName="compNode" presStyleCnt="0"/>
      <dgm:spPr/>
    </dgm:pt>
    <dgm:pt modelId="{DC7416BE-3D9B-4861-9A40-2FDE05EEA569}" type="pres">
      <dgm:prSet presAssocID="{5E7373AA-EF29-44F4-8E9D-931618A96124}" presName="bgRect" presStyleLbl="bgShp" presStyleIdx="1" presStyleCnt="5"/>
      <dgm:spPr/>
    </dgm:pt>
    <dgm:pt modelId="{3219D03A-1C0D-4942-91F2-63FF476D3341}" type="pres">
      <dgm:prSet presAssocID="{5E7373AA-EF29-44F4-8E9D-931618A961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F8DEE1-E769-4AD6-8C49-6450DD42A9A5}" type="pres">
      <dgm:prSet presAssocID="{5E7373AA-EF29-44F4-8E9D-931618A96124}" presName="spaceRect" presStyleCnt="0"/>
      <dgm:spPr/>
    </dgm:pt>
    <dgm:pt modelId="{66E940EC-DEA0-4793-9107-799359133071}" type="pres">
      <dgm:prSet presAssocID="{5E7373AA-EF29-44F4-8E9D-931618A96124}" presName="parTx" presStyleLbl="revTx" presStyleIdx="1" presStyleCnt="5">
        <dgm:presLayoutVars>
          <dgm:chMax val="0"/>
          <dgm:chPref val="0"/>
        </dgm:presLayoutVars>
      </dgm:prSet>
      <dgm:spPr/>
    </dgm:pt>
    <dgm:pt modelId="{306581FA-7AC0-420A-AFC7-BC3E09066C25}" type="pres">
      <dgm:prSet presAssocID="{D747D28B-1835-4D31-BDE2-33537B848716}" presName="sibTrans" presStyleCnt="0"/>
      <dgm:spPr/>
    </dgm:pt>
    <dgm:pt modelId="{30B312B0-D127-4AA0-AED7-E995D4C39D72}" type="pres">
      <dgm:prSet presAssocID="{34D81310-A67F-4A27-852D-CFE6F2F3E196}" presName="compNode" presStyleCnt="0"/>
      <dgm:spPr/>
    </dgm:pt>
    <dgm:pt modelId="{D1D036A0-29C3-4DE8-9CD2-6F21BC3ADEF9}" type="pres">
      <dgm:prSet presAssocID="{34D81310-A67F-4A27-852D-CFE6F2F3E196}" presName="bgRect" presStyleLbl="bgShp" presStyleIdx="2" presStyleCnt="5"/>
      <dgm:spPr/>
    </dgm:pt>
    <dgm:pt modelId="{09825792-93A7-4C19-A20D-97227DE04850}" type="pres">
      <dgm:prSet presAssocID="{34D81310-A67F-4A27-852D-CFE6F2F3E1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35BB87-C182-402E-A639-6D08C51F9B10}" type="pres">
      <dgm:prSet presAssocID="{34D81310-A67F-4A27-852D-CFE6F2F3E196}" presName="spaceRect" presStyleCnt="0"/>
      <dgm:spPr/>
    </dgm:pt>
    <dgm:pt modelId="{F3DA0EED-DFFF-4240-B92B-45B286A70EC2}" type="pres">
      <dgm:prSet presAssocID="{34D81310-A67F-4A27-852D-CFE6F2F3E196}" presName="parTx" presStyleLbl="revTx" presStyleIdx="2" presStyleCnt="5">
        <dgm:presLayoutVars>
          <dgm:chMax val="0"/>
          <dgm:chPref val="0"/>
        </dgm:presLayoutVars>
      </dgm:prSet>
      <dgm:spPr/>
    </dgm:pt>
    <dgm:pt modelId="{6A2E01C8-7F1E-407B-8939-22CAABD920E1}" type="pres">
      <dgm:prSet presAssocID="{5FD2C844-32BA-4259-8396-CEA3952B9B30}" presName="sibTrans" presStyleCnt="0"/>
      <dgm:spPr/>
    </dgm:pt>
    <dgm:pt modelId="{040EC66F-6C48-4683-9937-5550F224761E}" type="pres">
      <dgm:prSet presAssocID="{18FBC06E-56D2-48E9-9C75-363B5C8A8D56}" presName="compNode" presStyleCnt="0"/>
      <dgm:spPr/>
    </dgm:pt>
    <dgm:pt modelId="{DF890F58-2773-4481-B386-B0A512B059FF}" type="pres">
      <dgm:prSet presAssocID="{18FBC06E-56D2-48E9-9C75-363B5C8A8D56}" presName="bgRect" presStyleLbl="bgShp" presStyleIdx="3" presStyleCnt="5"/>
      <dgm:spPr/>
    </dgm:pt>
    <dgm:pt modelId="{D70E8C73-AE26-42AF-BAA4-BD64815C6910}" type="pres">
      <dgm:prSet presAssocID="{18FBC06E-56D2-48E9-9C75-363B5C8A8D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EFF7718-94CD-45F5-B8FC-EA31F53B80D2}" type="pres">
      <dgm:prSet presAssocID="{18FBC06E-56D2-48E9-9C75-363B5C8A8D56}" presName="spaceRect" presStyleCnt="0"/>
      <dgm:spPr/>
    </dgm:pt>
    <dgm:pt modelId="{E4013DED-87A1-4DDE-9687-FF0AD72AA5F5}" type="pres">
      <dgm:prSet presAssocID="{18FBC06E-56D2-48E9-9C75-363B5C8A8D56}" presName="parTx" presStyleLbl="revTx" presStyleIdx="3" presStyleCnt="5">
        <dgm:presLayoutVars>
          <dgm:chMax val="0"/>
          <dgm:chPref val="0"/>
        </dgm:presLayoutVars>
      </dgm:prSet>
      <dgm:spPr/>
    </dgm:pt>
    <dgm:pt modelId="{3F0CCE1D-170C-4FBF-8EE3-80EBB8502BFA}" type="pres">
      <dgm:prSet presAssocID="{044ADC37-F4D4-4732-9A20-4A8A31570F55}" presName="sibTrans" presStyleCnt="0"/>
      <dgm:spPr/>
    </dgm:pt>
    <dgm:pt modelId="{80563D51-950E-42AF-8ECD-A5C9B97DD6BC}" type="pres">
      <dgm:prSet presAssocID="{4A2B7E93-A9BA-488A-BFF2-854BC154F870}" presName="compNode" presStyleCnt="0"/>
      <dgm:spPr/>
    </dgm:pt>
    <dgm:pt modelId="{551FB11C-53F5-4959-84B5-E5254D19466A}" type="pres">
      <dgm:prSet presAssocID="{4A2B7E93-A9BA-488A-BFF2-854BC154F870}" presName="bgRect" presStyleLbl="bgShp" presStyleIdx="4" presStyleCnt="5"/>
      <dgm:spPr/>
    </dgm:pt>
    <dgm:pt modelId="{45CFF949-D795-4FF9-A391-E86FC52291CD}" type="pres">
      <dgm:prSet presAssocID="{4A2B7E93-A9BA-488A-BFF2-854BC154F87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ABF8A315-8E34-4F0D-8F8E-4FFDA9B0645A}" type="pres">
      <dgm:prSet presAssocID="{4A2B7E93-A9BA-488A-BFF2-854BC154F870}" presName="spaceRect" presStyleCnt="0"/>
      <dgm:spPr/>
    </dgm:pt>
    <dgm:pt modelId="{52ACE0B2-8E7B-43BE-87EE-6781AD2201B8}" type="pres">
      <dgm:prSet presAssocID="{4A2B7E93-A9BA-488A-BFF2-854BC154F87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C747127-B237-4E89-9A1D-252BBCCDB61E}" type="presOf" srcId="{34D81310-A67F-4A27-852D-CFE6F2F3E196}" destId="{F3DA0EED-DFFF-4240-B92B-45B286A70EC2}" srcOrd="0" destOrd="0" presId="urn:microsoft.com/office/officeart/2018/2/layout/IconVerticalSolidList"/>
    <dgm:cxn modelId="{79289929-9600-41F6-8F60-E59FD3D2CF71}" srcId="{E4928B23-67C1-4840-BDF0-8A4AD7C88AFF}" destId="{4A2B7E93-A9BA-488A-BFF2-854BC154F870}" srcOrd="4" destOrd="0" parTransId="{49090558-2E2C-478F-BBD6-125287864ABF}" sibTransId="{90EA18A5-B49D-4546-BF02-5619D75922B6}"/>
    <dgm:cxn modelId="{E1D7E730-AF19-4FB0-A50B-DF16074CEA47}" type="presOf" srcId="{E4928B23-67C1-4840-BDF0-8A4AD7C88AFF}" destId="{75A72542-10F4-4C74-8CAB-38FC3CA3BFB1}" srcOrd="0" destOrd="0" presId="urn:microsoft.com/office/officeart/2018/2/layout/IconVerticalSolidList"/>
    <dgm:cxn modelId="{DE5A365D-9EA6-40E5-8FE3-02387AF7382C}" type="presOf" srcId="{5E7373AA-EF29-44F4-8E9D-931618A96124}" destId="{66E940EC-DEA0-4793-9107-799359133071}" srcOrd="0" destOrd="0" presId="urn:microsoft.com/office/officeart/2018/2/layout/IconVerticalSolidList"/>
    <dgm:cxn modelId="{A73E7565-493B-4492-A69C-D9AF06BC12EF}" type="presOf" srcId="{3E457022-A9A7-4514-A832-F2443DCEE7E9}" destId="{617E4D16-9F2F-4E12-A8CD-DD3DA5ADB3D7}" srcOrd="0" destOrd="0" presId="urn:microsoft.com/office/officeart/2018/2/layout/IconVerticalSolidList"/>
    <dgm:cxn modelId="{F8C99676-2919-45F4-BB06-EFC7DF82E2AE}" srcId="{E4928B23-67C1-4840-BDF0-8A4AD7C88AFF}" destId="{18FBC06E-56D2-48E9-9C75-363B5C8A8D56}" srcOrd="3" destOrd="0" parTransId="{D05AC096-D0D2-4C83-B2D5-31B1FAAE12FA}" sibTransId="{044ADC37-F4D4-4732-9A20-4A8A31570F55}"/>
    <dgm:cxn modelId="{0272278B-5EDC-4993-9FAC-B0A559DDACE1}" srcId="{E4928B23-67C1-4840-BDF0-8A4AD7C88AFF}" destId="{5E7373AA-EF29-44F4-8E9D-931618A96124}" srcOrd="1" destOrd="0" parTransId="{1164A278-54ED-458A-AD35-CDB76E2BFE26}" sibTransId="{D747D28B-1835-4D31-BDE2-33537B848716}"/>
    <dgm:cxn modelId="{4B7ABE9D-F4AE-4759-9A7A-62E732B19454}" type="presOf" srcId="{18FBC06E-56D2-48E9-9C75-363B5C8A8D56}" destId="{E4013DED-87A1-4DDE-9687-FF0AD72AA5F5}" srcOrd="0" destOrd="0" presId="urn:microsoft.com/office/officeart/2018/2/layout/IconVerticalSolidList"/>
    <dgm:cxn modelId="{2E99BBD3-9786-4DF7-851D-CAA6077535A7}" srcId="{E4928B23-67C1-4840-BDF0-8A4AD7C88AFF}" destId="{3E457022-A9A7-4514-A832-F2443DCEE7E9}" srcOrd="0" destOrd="0" parTransId="{AD468366-873D-4529-9264-945113CAE883}" sibTransId="{30EEE1FB-A4BA-4A25-807B-8B863B122B64}"/>
    <dgm:cxn modelId="{609367E1-2728-4F83-AF77-DAD1DFEF2C0D}" type="presOf" srcId="{4A2B7E93-A9BA-488A-BFF2-854BC154F870}" destId="{52ACE0B2-8E7B-43BE-87EE-6781AD2201B8}" srcOrd="0" destOrd="0" presId="urn:microsoft.com/office/officeart/2018/2/layout/IconVerticalSolidList"/>
    <dgm:cxn modelId="{A9FDA8E7-0FF3-45FE-BAB8-152943309846}" srcId="{E4928B23-67C1-4840-BDF0-8A4AD7C88AFF}" destId="{34D81310-A67F-4A27-852D-CFE6F2F3E196}" srcOrd="2" destOrd="0" parTransId="{542B3F1A-F2E7-41AB-86FB-FBB39752E3C7}" sibTransId="{5FD2C844-32BA-4259-8396-CEA3952B9B30}"/>
    <dgm:cxn modelId="{361720DF-DD53-4EC7-81E8-A2CC4A84E00D}" type="presParOf" srcId="{75A72542-10F4-4C74-8CAB-38FC3CA3BFB1}" destId="{211225F8-3116-42E2-AF7B-5B94AB48051C}" srcOrd="0" destOrd="0" presId="urn:microsoft.com/office/officeart/2018/2/layout/IconVerticalSolidList"/>
    <dgm:cxn modelId="{685F269E-0BBD-4B8C-99D0-14EEF7255A6A}" type="presParOf" srcId="{211225F8-3116-42E2-AF7B-5B94AB48051C}" destId="{1CE00A3F-8141-42FF-BB78-4906CA8814AA}" srcOrd="0" destOrd="0" presId="urn:microsoft.com/office/officeart/2018/2/layout/IconVerticalSolidList"/>
    <dgm:cxn modelId="{B0BF3E83-65C6-415C-A35B-210E5BD5DD6C}" type="presParOf" srcId="{211225F8-3116-42E2-AF7B-5B94AB48051C}" destId="{752AF226-3276-4436-BC4F-89B8C247FED0}" srcOrd="1" destOrd="0" presId="urn:microsoft.com/office/officeart/2018/2/layout/IconVerticalSolidList"/>
    <dgm:cxn modelId="{C9993AE0-7A8B-463C-A8A9-253886EA55BB}" type="presParOf" srcId="{211225F8-3116-42E2-AF7B-5B94AB48051C}" destId="{C4032485-EDAD-49D4-8C56-995243C1B52D}" srcOrd="2" destOrd="0" presId="urn:microsoft.com/office/officeart/2018/2/layout/IconVerticalSolidList"/>
    <dgm:cxn modelId="{B0E428CE-936A-4794-8023-8AD01CC1B9E4}" type="presParOf" srcId="{211225F8-3116-42E2-AF7B-5B94AB48051C}" destId="{617E4D16-9F2F-4E12-A8CD-DD3DA5ADB3D7}" srcOrd="3" destOrd="0" presId="urn:microsoft.com/office/officeart/2018/2/layout/IconVerticalSolidList"/>
    <dgm:cxn modelId="{185F24BB-BB89-4718-A080-9CF853E5A67C}" type="presParOf" srcId="{75A72542-10F4-4C74-8CAB-38FC3CA3BFB1}" destId="{E5326E5D-D677-428C-A151-58E3D032429E}" srcOrd="1" destOrd="0" presId="urn:microsoft.com/office/officeart/2018/2/layout/IconVerticalSolidList"/>
    <dgm:cxn modelId="{39ADC9D7-8AA8-4497-AED1-212096A6C689}" type="presParOf" srcId="{75A72542-10F4-4C74-8CAB-38FC3CA3BFB1}" destId="{AF1974E5-F4B0-4BB4-8287-281DC8FF2A96}" srcOrd="2" destOrd="0" presId="urn:microsoft.com/office/officeart/2018/2/layout/IconVerticalSolidList"/>
    <dgm:cxn modelId="{BE2435B8-898E-473E-8876-D23DB1D604C2}" type="presParOf" srcId="{AF1974E5-F4B0-4BB4-8287-281DC8FF2A96}" destId="{DC7416BE-3D9B-4861-9A40-2FDE05EEA569}" srcOrd="0" destOrd="0" presId="urn:microsoft.com/office/officeart/2018/2/layout/IconVerticalSolidList"/>
    <dgm:cxn modelId="{2DAC174E-0B89-40C7-9064-95D614D33E85}" type="presParOf" srcId="{AF1974E5-F4B0-4BB4-8287-281DC8FF2A96}" destId="{3219D03A-1C0D-4942-91F2-63FF476D3341}" srcOrd="1" destOrd="0" presId="urn:microsoft.com/office/officeart/2018/2/layout/IconVerticalSolidList"/>
    <dgm:cxn modelId="{4A2D904B-72CF-4963-A1BF-BF052783D32C}" type="presParOf" srcId="{AF1974E5-F4B0-4BB4-8287-281DC8FF2A96}" destId="{6DF8DEE1-E769-4AD6-8C49-6450DD42A9A5}" srcOrd="2" destOrd="0" presId="urn:microsoft.com/office/officeart/2018/2/layout/IconVerticalSolidList"/>
    <dgm:cxn modelId="{9F723A42-D623-45CF-98ED-E0A8FD75C95C}" type="presParOf" srcId="{AF1974E5-F4B0-4BB4-8287-281DC8FF2A96}" destId="{66E940EC-DEA0-4793-9107-799359133071}" srcOrd="3" destOrd="0" presId="urn:microsoft.com/office/officeart/2018/2/layout/IconVerticalSolidList"/>
    <dgm:cxn modelId="{A4D03FF2-DA09-433A-9A99-5EC622597234}" type="presParOf" srcId="{75A72542-10F4-4C74-8CAB-38FC3CA3BFB1}" destId="{306581FA-7AC0-420A-AFC7-BC3E09066C25}" srcOrd="3" destOrd="0" presId="urn:microsoft.com/office/officeart/2018/2/layout/IconVerticalSolidList"/>
    <dgm:cxn modelId="{4E08FF1E-4F28-403D-B2C8-766D7B32577C}" type="presParOf" srcId="{75A72542-10F4-4C74-8CAB-38FC3CA3BFB1}" destId="{30B312B0-D127-4AA0-AED7-E995D4C39D72}" srcOrd="4" destOrd="0" presId="urn:microsoft.com/office/officeart/2018/2/layout/IconVerticalSolidList"/>
    <dgm:cxn modelId="{06BA2D0B-2E8F-4F05-8621-F9E9264376FA}" type="presParOf" srcId="{30B312B0-D127-4AA0-AED7-E995D4C39D72}" destId="{D1D036A0-29C3-4DE8-9CD2-6F21BC3ADEF9}" srcOrd="0" destOrd="0" presId="urn:microsoft.com/office/officeart/2018/2/layout/IconVerticalSolidList"/>
    <dgm:cxn modelId="{3F08254F-BFA7-4DA6-9BA6-B6FEE6B98809}" type="presParOf" srcId="{30B312B0-D127-4AA0-AED7-E995D4C39D72}" destId="{09825792-93A7-4C19-A20D-97227DE04850}" srcOrd="1" destOrd="0" presId="urn:microsoft.com/office/officeart/2018/2/layout/IconVerticalSolidList"/>
    <dgm:cxn modelId="{B982E2DC-3F18-40AE-9293-70AD8C751C23}" type="presParOf" srcId="{30B312B0-D127-4AA0-AED7-E995D4C39D72}" destId="{5835BB87-C182-402E-A639-6D08C51F9B10}" srcOrd="2" destOrd="0" presId="urn:microsoft.com/office/officeart/2018/2/layout/IconVerticalSolidList"/>
    <dgm:cxn modelId="{6028E9AC-3F52-4761-A8FF-E17D875425C6}" type="presParOf" srcId="{30B312B0-D127-4AA0-AED7-E995D4C39D72}" destId="{F3DA0EED-DFFF-4240-B92B-45B286A70EC2}" srcOrd="3" destOrd="0" presId="urn:microsoft.com/office/officeart/2018/2/layout/IconVerticalSolidList"/>
    <dgm:cxn modelId="{1385DEC0-4C34-4334-B73E-B826DC942C2E}" type="presParOf" srcId="{75A72542-10F4-4C74-8CAB-38FC3CA3BFB1}" destId="{6A2E01C8-7F1E-407B-8939-22CAABD920E1}" srcOrd="5" destOrd="0" presId="urn:microsoft.com/office/officeart/2018/2/layout/IconVerticalSolidList"/>
    <dgm:cxn modelId="{DC06C44A-EF01-4AD7-9FA8-EF0F70A31670}" type="presParOf" srcId="{75A72542-10F4-4C74-8CAB-38FC3CA3BFB1}" destId="{040EC66F-6C48-4683-9937-5550F224761E}" srcOrd="6" destOrd="0" presId="urn:microsoft.com/office/officeart/2018/2/layout/IconVerticalSolidList"/>
    <dgm:cxn modelId="{3554AF5D-C5D9-4E37-8D43-735069D9E577}" type="presParOf" srcId="{040EC66F-6C48-4683-9937-5550F224761E}" destId="{DF890F58-2773-4481-B386-B0A512B059FF}" srcOrd="0" destOrd="0" presId="urn:microsoft.com/office/officeart/2018/2/layout/IconVerticalSolidList"/>
    <dgm:cxn modelId="{8BE43E17-18E0-45A9-A912-0DB75B91AFB8}" type="presParOf" srcId="{040EC66F-6C48-4683-9937-5550F224761E}" destId="{D70E8C73-AE26-42AF-BAA4-BD64815C6910}" srcOrd="1" destOrd="0" presId="urn:microsoft.com/office/officeart/2018/2/layout/IconVerticalSolidList"/>
    <dgm:cxn modelId="{05C9C277-8D17-463C-8120-4B8EB21604A4}" type="presParOf" srcId="{040EC66F-6C48-4683-9937-5550F224761E}" destId="{BEFF7718-94CD-45F5-B8FC-EA31F53B80D2}" srcOrd="2" destOrd="0" presId="urn:microsoft.com/office/officeart/2018/2/layout/IconVerticalSolidList"/>
    <dgm:cxn modelId="{A085430D-0305-4DEF-B616-F4FD4CF8237E}" type="presParOf" srcId="{040EC66F-6C48-4683-9937-5550F224761E}" destId="{E4013DED-87A1-4DDE-9687-FF0AD72AA5F5}" srcOrd="3" destOrd="0" presId="urn:microsoft.com/office/officeart/2018/2/layout/IconVerticalSolidList"/>
    <dgm:cxn modelId="{5AF1A7DD-6E19-43E2-B129-B75BDA533C66}" type="presParOf" srcId="{75A72542-10F4-4C74-8CAB-38FC3CA3BFB1}" destId="{3F0CCE1D-170C-4FBF-8EE3-80EBB8502BFA}" srcOrd="7" destOrd="0" presId="urn:microsoft.com/office/officeart/2018/2/layout/IconVerticalSolidList"/>
    <dgm:cxn modelId="{F4ED4304-97FE-4425-A6B6-24A9F080FA9F}" type="presParOf" srcId="{75A72542-10F4-4C74-8CAB-38FC3CA3BFB1}" destId="{80563D51-950E-42AF-8ECD-A5C9B97DD6BC}" srcOrd="8" destOrd="0" presId="urn:microsoft.com/office/officeart/2018/2/layout/IconVerticalSolidList"/>
    <dgm:cxn modelId="{2EEC4CDF-97AB-4023-A1A3-BCB210BFD430}" type="presParOf" srcId="{80563D51-950E-42AF-8ECD-A5C9B97DD6BC}" destId="{551FB11C-53F5-4959-84B5-E5254D19466A}" srcOrd="0" destOrd="0" presId="urn:microsoft.com/office/officeart/2018/2/layout/IconVerticalSolidList"/>
    <dgm:cxn modelId="{83627AAC-045A-46BC-B9B1-9F1EDB640A94}" type="presParOf" srcId="{80563D51-950E-42AF-8ECD-A5C9B97DD6BC}" destId="{45CFF949-D795-4FF9-A391-E86FC52291CD}" srcOrd="1" destOrd="0" presId="urn:microsoft.com/office/officeart/2018/2/layout/IconVerticalSolidList"/>
    <dgm:cxn modelId="{61337359-CD17-41CC-B885-747B8A9C9739}" type="presParOf" srcId="{80563D51-950E-42AF-8ECD-A5C9B97DD6BC}" destId="{ABF8A315-8E34-4F0D-8F8E-4FFDA9B0645A}" srcOrd="2" destOrd="0" presId="urn:microsoft.com/office/officeart/2018/2/layout/IconVerticalSolidList"/>
    <dgm:cxn modelId="{A288424A-FE74-48E5-87C4-CA46CD9F819D}" type="presParOf" srcId="{80563D51-950E-42AF-8ECD-A5C9B97DD6BC}" destId="{52ACE0B2-8E7B-43BE-87EE-6781AD2201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DC64AF8-B7ED-42FB-9430-F309AEC9079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Rule-based interpretation was implemented for CBC, CRP,and electrolyte parameters relevant to cardiac pathology.</a:t>
          </a:r>
        </a:p>
      </dgm:t>
    </dgm:pt>
    <dgm:pt modelId="{BA5D87FD-A838-4DC6-AC4C-4BC2E4756792}" type="parTrans" cxnId="{4FD8CC2A-95AC-42B4-A71B-C19738C0ECDD}">
      <dgm:prSet/>
      <dgm:spPr/>
    </dgm:pt>
    <dgm:pt modelId="{92AFEB1D-862A-4247-A603-70A3F7F3F729}" type="sibTrans" cxnId="{4FD8CC2A-95AC-42B4-A71B-C19738C0ECDD}">
      <dgm:prSet/>
      <dgm:spPr/>
    </dgm:pt>
    <dgm:pt modelId="{A1BE140B-68A7-421F-9615-1E3B529F02E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Using 13 standard clinical parameters, an SVM-basedmodel achieved 91% accuracy in heart disease detection.</a:t>
          </a:r>
        </a:p>
      </dgm:t>
    </dgm:pt>
    <dgm:pt modelId="{64BD0FE4-78F3-4B7C-9649-2FC498500EED}" type="parTrans" cxnId="{5ABF40A4-80B8-46A7-AAA7-4AF005B224BF}">
      <dgm:prSet/>
      <dgm:spPr/>
    </dgm:pt>
    <dgm:pt modelId="{2BEDF405-A833-485A-907E-EC0136F97E38}" type="sibTrans" cxnId="{5ABF40A4-80B8-46A7-AAA7-4AF005B224BF}">
      <dgm:prSet/>
      <dgm:spPr/>
    </dgm:pt>
    <dgm:pt modelId="{E41013C1-64CA-4BC0-B351-4ED28EF3F13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A 12-lead ECG analysis system was developed with 72clinically defined classes and subclasses.</a:t>
          </a:r>
        </a:p>
      </dgm:t>
    </dgm:pt>
    <dgm:pt modelId="{2A085565-4687-4CCC-9E5B-DC27D5AE1CB0}" type="parTrans" cxnId="{8EE89EFC-A8A8-42BC-A5B7-22897A2511B9}">
      <dgm:prSet/>
      <dgm:spPr/>
    </dgm:pt>
    <dgm:pt modelId="{0A45CC59-2322-4802-BCBD-8DA9C407E8B8}" type="sibTrans" cxnId="{8EE89EFC-A8A8-42BC-A5B7-22897A2511B9}">
      <dgm:prSet/>
      <dgm:spPr/>
    </dgm:pt>
    <dgm:pt modelId="{2196EA4E-F0FB-41A2-BD9C-1CA5FA48ABA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R-peak detection and beat segmentation enabled detailedelectrical activity analysis.</a:t>
          </a:r>
        </a:p>
      </dgm:t>
    </dgm:pt>
    <dgm:pt modelId="{FEAAAC50-3241-4175-B7B8-287051A2DB11}" type="parTrans" cxnId="{90706E6A-B24A-4B61-85C4-E28AFAB28ECE}">
      <dgm:prSet/>
      <dgm:spPr/>
    </dgm:pt>
    <dgm:pt modelId="{FD12E005-5B7F-408A-8919-66E64AF3B17F}" type="sibTrans" cxnId="{90706E6A-B24A-4B61-85C4-E28AFAB28ECE}">
      <dgm:prSet/>
      <dgm:spPr/>
    </dgm:pt>
    <dgm:pt modelId="{62FB36D5-1C06-4001-98EC-A4C1CE8CF96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Echocardiography processing extracted left ventriculararea, shape, axis, eccentricity, and wall thicknessparameters.</a:t>
          </a:r>
        </a:p>
      </dgm:t>
    </dgm:pt>
    <dgm:pt modelId="{FEF09B4E-DB85-4F84-AAEA-4512E4F99BB3}" type="parTrans" cxnId="{1CCAC5D1-800C-4CEB-86A1-93131CBEAC75}">
      <dgm:prSet/>
      <dgm:spPr/>
    </dgm:pt>
    <dgm:pt modelId="{41E3224D-CDFC-402D-BE9C-BC73EFCDCC42}" type="sibTrans" cxnId="{1CCAC5D1-800C-4CEB-86A1-93131CBEAC75}">
      <dgm:prSet/>
      <dgm:spPr/>
    </dgm:pt>
    <dgm:pt modelId="{26815708-1130-45C3-B070-856C8EB81D2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Disease possibility was inferred by correlating laboratory,ECG, and imaging findings through rule-guided logic.</a:t>
          </a:r>
        </a:p>
      </dgm:t>
    </dgm:pt>
    <dgm:pt modelId="{F951D283-2C00-4769-A617-EC8A2FACAE5C}" type="parTrans" cxnId="{B68E2028-9B35-4C06-B75A-B18ADE29167D}">
      <dgm:prSet/>
      <dgm:spPr/>
    </dgm:pt>
    <dgm:pt modelId="{C2097F67-F3A4-4E8D-93A4-90185A73BE1A}" type="sibTrans" cxnId="{B68E2028-9B35-4C06-B75A-B18ADE29167D}">
      <dgm:prSet/>
      <dgm:spPr/>
    </dgm:pt>
    <dgm:pt modelId="{68C18E6D-FC58-4ADE-82F6-AE03A05447A5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3DBC5938-4E73-4804-8888-765EF762CF73}" type="pres">
      <dgm:prSet presAssocID="{E4928B23-67C1-4840-BDF0-8A4AD7C88AFF}" presName="container" presStyleCnt="0">
        <dgm:presLayoutVars>
          <dgm:dir/>
          <dgm:resizeHandles val="exact"/>
        </dgm:presLayoutVars>
      </dgm:prSet>
      <dgm:spPr/>
    </dgm:pt>
    <dgm:pt modelId="{A691BBFC-3F04-4FB2-BDFD-B4511C3FC849}" type="pres">
      <dgm:prSet presAssocID="{0DC64AF8-B7ED-42FB-9430-F309AEC90793}" presName="compNode" presStyleCnt="0"/>
      <dgm:spPr/>
    </dgm:pt>
    <dgm:pt modelId="{561FD623-C3D0-48EC-A798-B001BD4B806E}" type="pres">
      <dgm:prSet presAssocID="{0DC64AF8-B7ED-42FB-9430-F309AEC90793}" presName="iconBgRect" presStyleLbl="bgShp" presStyleIdx="0" presStyleCnt="6"/>
      <dgm:spPr/>
    </dgm:pt>
    <dgm:pt modelId="{DD259F1A-A3A6-4D2C-9AD6-6DAFC29A36C3}" type="pres">
      <dgm:prSet presAssocID="{0DC64AF8-B7ED-42FB-9430-F309AEC9079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066C46B1-0770-430B-98C6-20666F5A6ABE}" type="pres">
      <dgm:prSet presAssocID="{0DC64AF8-B7ED-42FB-9430-F309AEC90793}" presName="spaceRect" presStyleCnt="0"/>
      <dgm:spPr/>
    </dgm:pt>
    <dgm:pt modelId="{D13A75F5-5974-4420-A1B4-8DC1E1B4DD9B}" type="pres">
      <dgm:prSet presAssocID="{0DC64AF8-B7ED-42FB-9430-F309AEC90793}" presName="textRect" presStyleLbl="revTx" presStyleIdx="0" presStyleCnt="6">
        <dgm:presLayoutVars>
          <dgm:chMax val="1"/>
          <dgm:chPref val="1"/>
        </dgm:presLayoutVars>
      </dgm:prSet>
      <dgm:spPr/>
    </dgm:pt>
    <dgm:pt modelId="{E1B8C1CD-093C-470C-AC3D-54CA5CA847EA}" type="pres">
      <dgm:prSet presAssocID="{92AFEB1D-862A-4247-A603-70A3F7F3F729}" presName="sibTrans" presStyleLbl="sibTrans2D1" presStyleIdx="0" presStyleCnt="0"/>
      <dgm:spPr/>
    </dgm:pt>
    <dgm:pt modelId="{06FFF7FF-F937-463A-B810-383B15CE30DC}" type="pres">
      <dgm:prSet presAssocID="{A1BE140B-68A7-421F-9615-1E3B529F02E5}" presName="compNode" presStyleCnt="0"/>
      <dgm:spPr/>
    </dgm:pt>
    <dgm:pt modelId="{7918E415-1D86-45A4-BF6A-963DE741A3D0}" type="pres">
      <dgm:prSet presAssocID="{A1BE140B-68A7-421F-9615-1E3B529F02E5}" presName="iconBgRect" presStyleLbl="bgShp" presStyleIdx="1" presStyleCnt="6"/>
      <dgm:spPr/>
    </dgm:pt>
    <dgm:pt modelId="{34B9E8E9-5B08-4E9B-8241-CCFB0A63A930}" type="pres">
      <dgm:prSet presAssocID="{A1BE140B-68A7-421F-9615-1E3B529F02E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D4D2587-1A14-45AE-A4C2-E0AE9A23F5BB}" type="pres">
      <dgm:prSet presAssocID="{A1BE140B-68A7-421F-9615-1E3B529F02E5}" presName="spaceRect" presStyleCnt="0"/>
      <dgm:spPr/>
    </dgm:pt>
    <dgm:pt modelId="{A91FFD4B-AA4E-411F-99A7-785D47C7B7BB}" type="pres">
      <dgm:prSet presAssocID="{A1BE140B-68A7-421F-9615-1E3B529F02E5}" presName="textRect" presStyleLbl="revTx" presStyleIdx="1" presStyleCnt="6">
        <dgm:presLayoutVars>
          <dgm:chMax val="1"/>
          <dgm:chPref val="1"/>
        </dgm:presLayoutVars>
      </dgm:prSet>
      <dgm:spPr/>
    </dgm:pt>
    <dgm:pt modelId="{CC41A85D-80AE-4C89-9A43-090221E61D25}" type="pres">
      <dgm:prSet presAssocID="{2BEDF405-A833-485A-907E-EC0136F97E38}" presName="sibTrans" presStyleLbl="sibTrans2D1" presStyleIdx="0" presStyleCnt="0"/>
      <dgm:spPr/>
    </dgm:pt>
    <dgm:pt modelId="{1BBF4356-1778-4715-A913-0579B615054A}" type="pres">
      <dgm:prSet presAssocID="{E41013C1-64CA-4BC0-B351-4ED28EF3F13D}" presName="compNode" presStyleCnt="0"/>
      <dgm:spPr/>
    </dgm:pt>
    <dgm:pt modelId="{36B21CC0-1795-4027-AFA1-862DD70FFD86}" type="pres">
      <dgm:prSet presAssocID="{E41013C1-64CA-4BC0-B351-4ED28EF3F13D}" presName="iconBgRect" presStyleLbl="bgShp" presStyleIdx="2" presStyleCnt="6"/>
      <dgm:spPr/>
    </dgm:pt>
    <dgm:pt modelId="{35D3F33D-D4EF-419E-AFA2-E4520957EBE6}" type="pres">
      <dgm:prSet presAssocID="{E41013C1-64CA-4BC0-B351-4ED28EF3F13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FFBFEEFF-44AB-4001-84D3-BA864AE32AFC}" type="pres">
      <dgm:prSet presAssocID="{E41013C1-64CA-4BC0-B351-4ED28EF3F13D}" presName="spaceRect" presStyleCnt="0"/>
      <dgm:spPr/>
    </dgm:pt>
    <dgm:pt modelId="{19ACBFB4-B4B4-47C8-807E-09B1F0541E46}" type="pres">
      <dgm:prSet presAssocID="{E41013C1-64CA-4BC0-B351-4ED28EF3F13D}" presName="textRect" presStyleLbl="revTx" presStyleIdx="2" presStyleCnt="6">
        <dgm:presLayoutVars>
          <dgm:chMax val="1"/>
          <dgm:chPref val="1"/>
        </dgm:presLayoutVars>
      </dgm:prSet>
      <dgm:spPr/>
    </dgm:pt>
    <dgm:pt modelId="{89F290B1-EFAA-4FC5-9FE4-BF2A80C53061}" type="pres">
      <dgm:prSet presAssocID="{0A45CC59-2322-4802-BCBD-8DA9C407E8B8}" presName="sibTrans" presStyleLbl="sibTrans2D1" presStyleIdx="0" presStyleCnt="0"/>
      <dgm:spPr/>
    </dgm:pt>
    <dgm:pt modelId="{725AC0B6-2852-4ADA-8F83-3EDDB42B8184}" type="pres">
      <dgm:prSet presAssocID="{2196EA4E-F0FB-41A2-BD9C-1CA5FA48ABA9}" presName="compNode" presStyleCnt="0"/>
      <dgm:spPr/>
    </dgm:pt>
    <dgm:pt modelId="{DE0C266E-B461-4870-BC35-CBAC8083F349}" type="pres">
      <dgm:prSet presAssocID="{2196EA4E-F0FB-41A2-BD9C-1CA5FA48ABA9}" presName="iconBgRect" presStyleLbl="bgShp" presStyleIdx="3" presStyleCnt="6"/>
      <dgm:spPr/>
    </dgm:pt>
    <dgm:pt modelId="{EDD5C555-4309-4151-9FF0-87AA26CFB23A}" type="pres">
      <dgm:prSet presAssocID="{2196EA4E-F0FB-41A2-BD9C-1CA5FA48ABA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3050E593-3E6D-43CF-9F67-E92599D4F3DA}" type="pres">
      <dgm:prSet presAssocID="{2196EA4E-F0FB-41A2-BD9C-1CA5FA48ABA9}" presName="spaceRect" presStyleCnt="0"/>
      <dgm:spPr/>
    </dgm:pt>
    <dgm:pt modelId="{E7695B91-6BAE-4CE9-A563-01A0857B4204}" type="pres">
      <dgm:prSet presAssocID="{2196EA4E-F0FB-41A2-BD9C-1CA5FA48ABA9}" presName="textRect" presStyleLbl="revTx" presStyleIdx="3" presStyleCnt="6">
        <dgm:presLayoutVars>
          <dgm:chMax val="1"/>
          <dgm:chPref val="1"/>
        </dgm:presLayoutVars>
      </dgm:prSet>
      <dgm:spPr/>
    </dgm:pt>
    <dgm:pt modelId="{4AD2EFEF-E0AF-46B5-A4AB-75D038A9CA75}" type="pres">
      <dgm:prSet presAssocID="{FD12E005-5B7F-408A-8919-66E64AF3B17F}" presName="sibTrans" presStyleLbl="sibTrans2D1" presStyleIdx="0" presStyleCnt="0"/>
      <dgm:spPr/>
    </dgm:pt>
    <dgm:pt modelId="{999577D5-F8EE-4E77-88E8-0FA09DD5483E}" type="pres">
      <dgm:prSet presAssocID="{62FB36D5-1C06-4001-98EC-A4C1CE8CF967}" presName="compNode" presStyleCnt="0"/>
      <dgm:spPr/>
    </dgm:pt>
    <dgm:pt modelId="{ACB8ADEA-6476-4A8C-BB6E-B0D04B32C986}" type="pres">
      <dgm:prSet presAssocID="{62FB36D5-1C06-4001-98EC-A4C1CE8CF967}" presName="iconBgRect" presStyleLbl="bgShp" presStyleIdx="4" presStyleCnt="6"/>
      <dgm:spPr/>
    </dgm:pt>
    <dgm:pt modelId="{F49C2908-F876-4ECF-9188-BBBD80CB4B73}" type="pres">
      <dgm:prSet presAssocID="{62FB36D5-1C06-4001-98EC-A4C1CE8CF96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4D23DD0-BF93-4F80-8E4D-AC0D2DA50FF3}" type="pres">
      <dgm:prSet presAssocID="{62FB36D5-1C06-4001-98EC-A4C1CE8CF967}" presName="spaceRect" presStyleCnt="0"/>
      <dgm:spPr/>
    </dgm:pt>
    <dgm:pt modelId="{D347C3EB-F3EB-426E-AC16-9675AB87A710}" type="pres">
      <dgm:prSet presAssocID="{62FB36D5-1C06-4001-98EC-A4C1CE8CF967}" presName="textRect" presStyleLbl="revTx" presStyleIdx="4" presStyleCnt="6">
        <dgm:presLayoutVars>
          <dgm:chMax val="1"/>
          <dgm:chPref val="1"/>
        </dgm:presLayoutVars>
      </dgm:prSet>
      <dgm:spPr/>
    </dgm:pt>
    <dgm:pt modelId="{E3E96607-4E6A-4A34-8177-35A76BBC93E0}" type="pres">
      <dgm:prSet presAssocID="{41E3224D-CDFC-402D-BE9C-BC73EFCDCC42}" presName="sibTrans" presStyleLbl="sibTrans2D1" presStyleIdx="0" presStyleCnt="0"/>
      <dgm:spPr/>
    </dgm:pt>
    <dgm:pt modelId="{F2095545-7DAA-4F3C-9D69-6683F6C33146}" type="pres">
      <dgm:prSet presAssocID="{26815708-1130-45C3-B070-856C8EB81D2B}" presName="compNode" presStyleCnt="0"/>
      <dgm:spPr/>
    </dgm:pt>
    <dgm:pt modelId="{BFA46373-9177-407E-852C-248F7161F399}" type="pres">
      <dgm:prSet presAssocID="{26815708-1130-45C3-B070-856C8EB81D2B}" presName="iconBgRect" presStyleLbl="bgShp" presStyleIdx="5" presStyleCnt="6"/>
      <dgm:spPr/>
    </dgm:pt>
    <dgm:pt modelId="{5D3DD76B-1C64-4D49-81CB-A123E1FA85F2}" type="pres">
      <dgm:prSet presAssocID="{26815708-1130-45C3-B070-856C8EB81D2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3A27B50-1E41-48AD-9B9D-0D80551AE02F}" type="pres">
      <dgm:prSet presAssocID="{26815708-1130-45C3-B070-856C8EB81D2B}" presName="spaceRect" presStyleCnt="0"/>
      <dgm:spPr/>
    </dgm:pt>
    <dgm:pt modelId="{D48D2245-E674-4D59-8EA3-2AD80E60E5F4}" type="pres">
      <dgm:prSet presAssocID="{26815708-1130-45C3-B070-856C8EB81D2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66A7A00-ED6B-45DD-BCF7-D71CCFE54D8C}" type="presOf" srcId="{A1BE140B-68A7-421F-9615-1E3B529F02E5}" destId="{A91FFD4B-AA4E-411F-99A7-785D47C7B7BB}" srcOrd="0" destOrd="0" presId="urn:microsoft.com/office/officeart/2018/2/layout/IconCircleList"/>
    <dgm:cxn modelId="{78FBD207-A407-4ED4-9DB7-73CFDE8D4D7D}" type="presOf" srcId="{41E3224D-CDFC-402D-BE9C-BC73EFCDCC42}" destId="{E3E96607-4E6A-4A34-8177-35A76BBC93E0}" srcOrd="0" destOrd="0" presId="urn:microsoft.com/office/officeart/2018/2/layout/IconCircleList"/>
    <dgm:cxn modelId="{B68E2028-9B35-4C06-B75A-B18ADE29167D}" srcId="{E4928B23-67C1-4840-BDF0-8A4AD7C88AFF}" destId="{26815708-1130-45C3-B070-856C8EB81D2B}" srcOrd="5" destOrd="0" parTransId="{F951D283-2C00-4769-A617-EC8A2FACAE5C}" sibTransId="{C2097F67-F3A4-4E8D-93A4-90185A73BE1A}"/>
    <dgm:cxn modelId="{4FD8CC2A-95AC-42B4-A71B-C19738C0ECDD}" srcId="{E4928B23-67C1-4840-BDF0-8A4AD7C88AFF}" destId="{0DC64AF8-B7ED-42FB-9430-F309AEC90793}" srcOrd="0" destOrd="0" parTransId="{BA5D87FD-A838-4DC6-AC4C-4BC2E4756792}" sibTransId="{92AFEB1D-862A-4247-A603-70A3F7F3F729}"/>
    <dgm:cxn modelId="{9B700562-78E5-4F55-A02C-15F8FC880E29}" type="presOf" srcId="{E4928B23-67C1-4840-BDF0-8A4AD7C88AFF}" destId="{68C18E6D-FC58-4ADE-82F6-AE03A05447A5}" srcOrd="0" destOrd="0" presId="urn:microsoft.com/office/officeart/2018/2/layout/IconCircleList"/>
    <dgm:cxn modelId="{90706E6A-B24A-4B61-85C4-E28AFAB28ECE}" srcId="{E4928B23-67C1-4840-BDF0-8A4AD7C88AFF}" destId="{2196EA4E-F0FB-41A2-BD9C-1CA5FA48ABA9}" srcOrd="3" destOrd="0" parTransId="{FEAAAC50-3241-4175-B7B8-287051A2DB11}" sibTransId="{FD12E005-5B7F-408A-8919-66E64AF3B17F}"/>
    <dgm:cxn modelId="{9508D379-54E2-4FBB-AD2E-B070DE2FE735}" type="presOf" srcId="{E41013C1-64CA-4BC0-B351-4ED28EF3F13D}" destId="{19ACBFB4-B4B4-47C8-807E-09B1F0541E46}" srcOrd="0" destOrd="0" presId="urn:microsoft.com/office/officeart/2018/2/layout/IconCircleList"/>
    <dgm:cxn modelId="{2DFD997A-0619-4007-8F94-321305F711ED}" type="presOf" srcId="{0DC64AF8-B7ED-42FB-9430-F309AEC90793}" destId="{D13A75F5-5974-4420-A1B4-8DC1E1B4DD9B}" srcOrd="0" destOrd="0" presId="urn:microsoft.com/office/officeart/2018/2/layout/IconCircleList"/>
    <dgm:cxn modelId="{5EA8C088-8DA6-4F31-A94E-F6BC9C2BA948}" type="presOf" srcId="{0A45CC59-2322-4802-BCBD-8DA9C407E8B8}" destId="{89F290B1-EFAA-4FC5-9FE4-BF2A80C53061}" srcOrd="0" destOrd="0" presId="urn:microsoft.com/office/officeart/2018/2/layout/IconCircleList"/>
    <dgm:cxn modelId="{2617C998-40D7-4709-8EF9-75F2D0912A58}" type="presOf" srcId="{26815708-1130-45C3-B070-856C8EB81D2B}" destId="{D48D2245-E674-4D59-8EA3-2AD80E60E5F4}" srcOrd="0" destOrd="0" presId="urn:microsoft.com/office/officeart/2018/2/layout/IconCircleList"/>
    <dgm:cxn modelId="{5ABF40A4-80B8-46A7-AAA7-4AF005B224BF}" srcId="{E4928B23-67C1-4840-BDF0-8A4AD7C88AFF}" destId="{A1BE140B-68A7-421F-9615-1E3B529F02E5}" srcOrd="1" destOrd="0" parTransId="{64BD0FE4-78F3-4B7C-9649-2FC498500EED}" sibTransId="{2BEDF405-A833-485A-907E-EC0136F97E38}"/>
    <dgm:cxn modelId="{400B81A4-ADD0-45A8-9668-56C8FAC2F0BF}" type="presOf" srcId="{2BEDF405-A833-485A-907E-EC0136F97E38}" destId="{CC41A85D-80AE-4C89-9A43-090221E61D25}" srcOrd="0" destOrd="0" presId="urn:microsoft.com/office/officeart/2018/2/layout/IconCircleList"/>
    <dgm:cxn modelId="{5681A2AE-7B16-4611-8A9B-FD5B23E076CC}" type="presOf" srcId="{62FB36D5-1C06-4001-98EC-A4C1CE8CF967}" destId="{D347C3EB-F3EB-426E-AC16-9675AB87A710}" srcOrd="0" destOrd="0" presId="urn:microsoft.com/office/officeart/2018/2/layout/IconCircleList"/>
    <dgm:cxn modelId="{1CCAC5D1-800C-4CEB-86A1-93131CBEAC75}" srcId="{E4928B23-67C1-4840-BDF0-8A4AD7C88AFF}" destId="{62FB36D5-1C06-4001-98EC-A4C1CE8CF967}" srcOrd="4" destOrd="0" parTransId="{FEF09B4E-DB85-4F84-AAEA-4512E4F99BB3}" sibTransId="{41E3224D-CDFC-402D-BE9C-BC73EFCDCC42}"/>
    <dgm:cxn modelId="{288D83E5-B0FB-48F6-A4CC-1C9C4F03CE2B}" type="presOf" srcId="{92AFEB1D-862A-4247-A603-70A3F7F3F729}" destId="{E1B8C1CD-093C-470C-AC3D-54CA5CA847EA}" srcOrd="0" destOrd="0" presId="urn:microsoft.com/office/officeart/2018/2/layout/IconCircleList"/>
    <dgm:cxn modelId="{70ED62E9-4D78-40C1-B5BB-CDEA0FC4B807}" type="presOf" srcId="{2196EA4E-F0FB-41A2-BD9C-1CA5FA48ABA9}" destId="{E7695B91-6BAE-4CE9-A563-01A0857B4204}" srcOrd="0" destOrd="0" presId="urn:microsoft.com/office/officeart/2018/2/layout/IconCircleList"/>
    <dgm:cxn modelId="{90DF20FA-194F-4006-8D47-4C53E68BCEB2}" type="presOf" srcId="{FD12E005-5B7F-408A-8919-66E64AF3B17F}" destId="{4AD2EFEF-E0AF-46B5-A4AB-75D038A9CA75}" srcOrd="0" destOrd="0" presId="urn:microsoft.com/office/officeart/2018/2/layout/IconCircleList"/>
    <dgm:cxn modelId="{8EE89EFC-A8A8-42BC-A5B7-22897A2511B9}" srcId="{E4928B23-67C1-4840-BDF0-8A4AD7C88AFF}" destId="{E41013C1-64CA-4BC0-B351-4ED28EF3F13D}" srcOrd="2" destOrd="0" parTransId="{2A085565-4687-4CCC-9E5B-DC27D5AE1CB0}" sibTransId="{0A45CC59-2322-4802-BCBD-8DA9C407E8B8}"/>
    <dgm:cxn modelId="{61E693D9-7402-4740-A87B-9D9E8848468C}" type="presParOf" srcId="{68C18E6D-FC58-4ADE-82F6-AE03A05447A5}" destId="{3DBC5938-4E73-4804-8888-765EF762CF73}" srcOrd="0" destOrd="0" presId="urn:microsoft.com/office/officeart/2018/2/layout/IconCircleList"/>
    <dgm:cxn modelId="{830012E4-91F5-4B46-8CD8-56FB17B1D2C1}" type="presParOf" srcId="{3DBC5938-4E73-4804-8888-765EF762CF73}" destId="{A691BBFC-3F04-4FB2-BDFD-B4511C3FC849}" srcOrd="0" destOrd="0" presId="urn:microsoft.com/office/officeart/2018/2/layout/IconCircleList"/>
    <dgm:cxn modelId="{F3BEAC87-BC89-4F6A-A38C-D7269288525F}" type="presParOf" srcId="{A691BBFC-3F04-4FB2-BDFD-B4511C3FC849}" destId="{561FD623-C3D0-48EC-A798-B001BD4B806E}" srcOrd="0" destOrd="0" presId="urn:microsoft.com/office/officeart/2018/2/layout/IconCircleList"/>
    <dgm:cxn modelId="{3167DBB4-6CB8-4AA7-BE3A-8A4861CC6FF6}" type="presParOf" srcId="{A691BBFC-3F04-4FB2-BDFD-B4511C3FC849}" destId="{DD259F1A-A3A6-4D2C-9AD6-6DAFC29A36C3}" srcOrd="1" destOrd="0" presId="urn:microsoft.com/office/officeart/2018/2/layout/IconCircleList"/>
    <dgm:cxn modelId="{A95B7281-946E-4865-AFC1-06DB0BF82088}" type="presParOf" srcId="{A691BBFC-3F04-4FB2-BDFD-B4511C3FC849}" destId="{066C46B1-0770-430B-98C6-20666F5A6ABE}" srcOrd="2" destOrd="0" presId="urn:microsoft.com/office/officeart/2018/2/layout/IconCircleList"/>
    <dgm:cxn modelId="{2C5FC625-F9E5-460E-883B-EB77BF0AE52F}" type="presParOf" srcId="{A691BBFC-3F04-4FB2-BDFD-B4511C3FC849}" destId="{D13A75F5-5974-4420-A1B4-8DC1E1B4DD9B}" srcOrd="3" destOrd="0" presId="urn:microsoft.com/office/officeart/2018/2/layout/IconCircleList"/>
    <dgm:cxn modelId="{C69ADEFE-3F5C-41C5-BCBA-00C3AB7B6F14}" type="presParOf" srcId="{3DBC5938-4E73-4804-8888-765EF762CF73}" destId="{E1B8C1CD-093C-470C-AC3D-54CA5CA847EA}" srcOrd="1" destOrd="0" presId="urn:microsoft.com/office/officeart/2018/2/layout/IconCircleList"/>
    <dgm:cxn modelId="{3C891579-BFC9-4ABB-BD1C-C103555CB2A0}" type="presParOf" srcId="{3DBC5938-4E73-4804-8888-765EF762CF73}" destId="{06FFF7FF-F937-463A-B810-383B15CE30DC}" srcOrd="2" destOrd="0" presId="urn:microsoft.com/office/officeart/2018/2/layout/IconCircleList"/>
    <dgm:cxn modelId="{0B98FFD4-6BC1-4D5C-9B05-B7F3755342CF}" type="presParOf" srcId="{06FFF7FF-F937-463A-B810-383B15CE30DC}" destId="{7918E415-1D86-45A4-BF6A-963DE741A3D0}" srcOrd="0" destOrd="0" presId="urn:microsoft.com/office/officeart/2018/2/layout/IconCircleList"/>
    <dgm:cxn modelId="{4C5B1F12-2CB9-41E6-AFF8-58DC3BC0C738}" type="presParOf" srcId="{06FFF7FF-F937-463A-B810-383B15CE30DC}" destId="{34B9E8E9-5B08-4E9B-8241-CCFB0A63A930}" srcOrd="1" destOrd="0" presId="urn:microsoft.com/office/officeart/2018/2/layout/IconCircleList"/>
    <dgm:cxn modelId="{C506F170-A885-4743-BCF6-D8C6A3EA3C2C}" type="presParOf" srcId="{06FFF7FF-F937-463A-B810-383B15CE30DC}" destId="{4D4D2587-1A14-45AE-A4C2-E0AE9A23F5BB}" srcOrd="2" destOrd="0" presId="urn:microsoft.com/office/officeart/2018/2/layout/IconCircleList"/>
    <dgm:cxn modelId="{922A8706-2C49-4BE6-9F9B-F85E0B0184BC}" type="presParOf" srcId="{06FFF7FF-F937-463A-B810-383B15CE30DC}" destId="{A91FFD4B-AA4E-411F-99A7-785D47C7B7BB}" srcOrd="3" destOrd="0" presId="urn:microsoft.com/office/officeart/2018/2/layout/IconCircleList"/>
    <dgm:cxn modelId="{003DF313-FFA9-445F-9229-80A03E6B70E9}" type="presParOf" srcId="{3DBC5938-4E73-4804-8888-765EF762CF73}" destId="{CC41A85D-80AE-4C89-9A43-090221E61D25}" srcOrd="3" destOrd="0" presId="urn:microsoft.com/office/officeart/2018/2/layout/IconCircleList"/>
    <dgm:cxn modelId="{DED8F80A-E850-4045-9D21-FF9DB9281024}" type="presParOf" srcId="{3DBC5938-4E73-4804-8888-765EF762CF73}" destId="{1BBF4356-1778-4715-A913-0579B615054A}" srcOrd="4" destOrd="0" presId="urn:microsoft.com/office/officeart/2018/2/layout/IconCircleList"/>
    <dgm:cxn modelId="{764D787D-6A0B-4B14-940C-3831558005B3}" type="presParOf" srcId="{1BBF4356-1778-4715-A913-0579B615054A}" destId="{36B21CC0-1795-4027-AFA1-862DD70FFD86}" srcOrd="0" destOrd="0" presId="urn:microsoft.com/office/officeart/2018/2/layout/IconCircleList"/>
    <dgm:cxn modelId="{8F7F49CE-6A5C-4F24-8D3F-DCCA95B373EB}" type="presParOf" srcId="{1BBF4356-1778-4715-A913-0579B615054A}" destId="{35D3F33D-D4EF-419E-AFA2-E4520957EBE6}" srcOrd="1" destOrd="0" presId="urn:microsoft.com/office/officeart/2018/2/layout/IconCircleList"/>
    <dgm:cxn modelId="{3C07EBBA-D58D-43D1-A7ED-B1347A522B2A}" type="presParOf" srcId="{1BBF4356-1778-4715-A913-0579B615054A}" destId="{FFBFEEFF-44AB-4001-84D3-BA864AE32AFC}" srcOrd="2" destOrd="0" presId="urn:microsoft.com/office/officeart/2018/2/layout/IconCircleList"/>
    <dgm:cxn modelId="{3A8EB8DB-A249-4CF3-8189-25F006A4CF36}" type="presParOf" srcId="{1BBF4356-1778-4715-A913-0579B615054A}" destId="{19ACBFB4-B4B4-47C8-807E-09B1F0541E46}" srcOrd="3" destOrd="0" presId="urn:microsoft.com/office/officeart/2018/2/layout/IconCircleList"/>
    <dgm:cxn modelId="{181EC8AF-E7BC-4616-8CB3-0A88E3416D48}" type="presParOf" srcId="{3DBC5938-4E73-4804-8888-765EF762CF73}" destId="{89F290B1-EFAA-4FC5-9FE4-BF2A80C53061}" srcOrd="5" destOrd="0" presId="urn:microsoft.com/office/officeart/2018/2/layout/IconCircleList"/>
    <dgm:cxn modelId="{47F5BAB2-F35A-4ED6-8109-9D05B8495721}" type="presParOf" srcId="{3DBC5938-4E73-4804-8888-765EF762CF73}" destId="{725AC0B6-2852-4ADA-8F83-3EDDB42B8184}" srcOrd="6" destOrd="0" presId="urn:microsoft.com/office/officeart/2018/2/layout/IconCircleList"/>
    <dgm:cxn modelId="{DC05618D-9662-4082-A2A4-97346AF1FF0E}" type="presParOf" srcId="{725AC0B6-2852-4ADA-8F83-3EDDB42B8184}" destId="{DE0C266E-B461-4870-BC35-CBAC8083F349}" srcOrd="0" destOrd="0" presId="urn:microsoft.com/office/officeart/2018/2/layout/IconCircleList"/>
    <dgm:cxn modelId="{5B555701-273F-4117-94E6-B41714C14152}" type="presParOf" srcId="{725AC0B6-2852-4ADA-8F83-3EDDB42B8184}" destId="{EDD5C555-4309-4151-9FF0-87AA26CFB23A}" srcOrd="1" destOrd="0" presId="urn:microsoft.com/office/officeart/2018/2/layout/IconCircleList"/>
    <dgm:cxn modelId="{1E209199-D982-474F-A4B1-62E401371250}" type="presParOf" srcId="{725AC0B6-2852-4ADA-8F83-3EDDB42B8184}" destId="{3050E593-3E6D-43CF-9F67-E92599D4F3DA}" srcOrd="2" destOrd="0" presId="urn:microsoft.com/office/officeart/2018/2/layout/IconCircleList"/>
    <dgm:cxn modelId="{F951C029-B5CA-4FFF-86EA-47308C665627}" type="presParOf" srcId="{725AC0B6-2852-4ADA-8F83-3EDDB42B8184}" destId="{E7695B91-6BAE-4CE9-A563-01A0857B4204}" srcOrd="3" destOrd="0" presId="urn:microsoft.com/office/officeart/2018/2/layout/IconCircleList"/>
    <dgm:cxn modelId="{BE5AA3A6-D1E0-40D8-9A67-1DE64A39477E}" type="presParOf" srcId="{3DBC5938-4E73-4804-8888-765EF762CF73}" destId="{4AD2EFEF-E0AF-46B5-A4AB-75D038A9CA75}" srcOrd="7" destOrd="0" presId="urn:microsoft.com/office/officeart/2018/2/layout/IconCircleList"/>
    <dgm:cxn modelId="{8202B716-F28A-48E4-8040-AC941D69EB18}" type="presParOf" srcId="{3DBC5938-4E73-4804-8888-765EF762CF73}" destId="{999577D5-F8EE-4E77-88E8-0FA09DD5483E}" srcOrd="8" destOrd="0" presId="urn:microsoft.com/office/officeart/2018/2/layout/IconCircleList"/>
    <dgm:cxn modelId="{9D3A4202-CB82-4A6E-B98B-D68E8948D3CF}" type="presParOf" srcId="{999577D5-F8EE-4E77-88E8-0FA09DD5483E}" destId="{ACB8ADEA-6476-4A8C-BB6E-B0D04B32C986}" srcOrd="0" destOrd="0" presId="urn:microsoft.com/office/officeart/2018/2/layout/IconCircleList"/>
    <dgm:cxn modelId="{C32D0BAD-418A-42CE-B260-6169DEAD5D8C}" type="presParOf" srcId="{999577D5-F8EE-4E77-88E8-0FA09DD5483E}" destId="{F49C2908-F876-4ECF-9188-BBBD80CB4B73}" srcOrd="1" destOrd="0" presId="urn:microsoft.com/office/officeart/2018/2/layout/IconCircleList"/>
    <dgm:cxn modelId="{F9A64F89-4D34-455A-B5C9-C1C5B841134D}" type="presParOf" srcId="{999577D5-F8EE-4E77-88E8-0FA09DD5483E}" destId="{44D23DD0-BF93-4F80-8E4D-AC0D2DA50FF3}" srcOrd="2" destOrd="0" presId="urn:microsoft.com/office/officeart/2018/2/layout/IconCircleList"/>
    <dgm:cxn modelId="{E20A8DCA-922F-41A6-9E62-6ACF93DC38B0}" type="presParOf" srcId="{999577D5-F8EE-4E77-88E8-0FA09DD5483E}" destId="{D347C3EB-F3EB-426E-AC16-9675AB87A710}" srcOrd="3" destOrd="0" presId="urn:microsoft.com/office/officeart/2018/2/layout/IconCircleList"/>
    <dgm:cxn modelId="{9CFCF169-3A03-44E3-8CA4-2CE71307A86B}" type="presParOf" srcId="{3DBC5938-4E73-4804-8888-765EF762CF73}" destId="{E3E96607-4E6A-4A34-8177-35A76BBC93E0}" srcOrd="9" destOrd="0" presId="urn:microsoft.com/office/officeart/2018/2/layout/IconCircleList"/>
    <dgm:cxn modelId="{5A539558-7D20-461E-A18E-F788A7AA3C37}" type="presParOf" srcId="{3DBC5938-4E73-4804-8888-765EF762CF73}" destId="{F2095545-7DAA-4F3C-9D69-6683F6C33146}" srcOrd="10" destOrd="0" presId="urn:microsoft.com/office/officeart/2018/2/layout/IconCircleList"/>
    <dgm:cxn modelId="{12E2FB89-7A30-4E98-AA91-B6FBFF9955D5}" type="presParOf" srcId="{F2095545-7DAA-4F3C-9D69-6683F6C33146}" destId="{BFA46373-9177-407E-852C-248F7161F399}" srcOrd="0" destOrd="0" presId="urn:microsoft.com/office/officeart/2018/2/layout/IconCircleList"/>
    <dgm:cxn modelId="{2E6DC6A0-3444-41CE-AC4E-B44D23EA92D8}" type="presParOf" srcId="{F2095545-7DAA-4F3C-9D69-6683F6C33146}" destId="{5D3DD76B-1C64-4D49-81CB-A123E1FA85F2}" srcOrd="1" destOrd="0" presId="urn:microsoft.com/office/officeart/2018/2/layout/IconCircleList"/>
    <dgm:cxn modelId="{F812223B-503E-4215-BD57-9805ABB4A21D}" type="presParOf" srcId="{F2095545-7DAA-4F3C-9D69-6683F6C33146}" destId="{C3A27B50-1E41-48AD-9B9D-0D80551AE02F}" srcOrd="2" destOrd="0" presId="urn:microsoft.com/office/officeart/2018/2/layout/IconCircleList"/>
    <dgm:cxn modelId="{BC100902-14BF-4010-8713-C30BC029A7CB}" type="presParOf" srcId="{F2095545-7DAA-4F3C-9D69-6683F6C33146}" destId="{D48D2245-E674-4D59-8EA3-2AD80E60E5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D6618-D0FE-45A8-8DAE-AE544F056437}">
      <dsp:nvSpPr>
        <dsp:cNvPr id="0" name=""/>
        <dsp:cNvSpPr/>
      </dsp:nvSpPr>
      <dsp:spPr>
        <a:xfrm>
          <a:off x="376719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ML/DL-based disease detection has grown with the expansion of healthcare data</a:t>
          </a:r>
        </a:p>
      </dsp:txBody>
      <dsp:txXfrm>
        <a:off x="376719" y="194"/>
        <a:ext cx="2970673" cy="1782404"/>
      </dsp:txXfrm>
    </dsp:sp>
    <dsp:sp modelId="{65DAF875-727C-4826-B6E9-CF5B81EC9ED4}">
      <dsp:nvSpPr>
        <dsp:cNvPr id="0" name=""/>
        <dsp:cNvSpPr/>
      </dsp:nvSpPr>
      <dsp:spPr>
        <a:xfrm>
          <a:off x="3644460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Most AI models are not yet production-ready for real clinical deployment</a:t>
          </a:r>
        </a:p>
      </dsp:txBody>
      <dsp:txXfrm>
        <a:off x="3644460" y="194"/>
        <a:ext cx="2970673" cy="1782404"/>
      </dsp:txXfrm>
    </dsp:sp>
    <dsp:sp modelId="{52E569C3-3A67-4C12-A594-CDFA72FC2317}">
      <dsp:nvSpPr>
        <dsp:cNvPr id="0" name=""/>
        <dsp:cNvSpPr/>
      </dsp:nvSpPr>
      <dsp:spPr>
        <a:xfrm>
          <a:off x="6912201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Existing approaches rely on isolated clinical parameters, limiting reliability</a:t>
          </a:r>
        </a:p>
      </dsp:txBody>
      <dsp:txXfrm>
        <a:off x="6912201" y="194"/>
        <a:ext cx="2970673" cy="1782404"/>
      </dsp:txXfrm>
    </dsp:sp>
    <dsp:sp modelId="{AE6A08E8-AEDF-4B24-B834-61CE808E75DC}">
      <dsp:nvSpPr>
        <dsp:cNvPr id="0" name=""/>
        <dsp:cNvSpPr/>
      </dsp:nvSpPr>
      <dsp:spPr>
        <a:xfrm>
          <a:off x="376719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Cardiovascular assessment requires integrated cardiac and non-cardiac evidence</a:t>
          </a:r>
        </a:p>
      </dsp:txBody>
      <dsp:txXfrm>
        <a:off x="376719" y="2079665"/>
        <a:ext cx="2970673" cy="1782404"/>
      </dsp:txXfrm>
    </dsp:sp>
    <dsp:sp modelId="{59135318-3EE6-4699-88AF-811A58573E30}">
      <dsp:nvSpPr>
        <dsp:cNvPr id="0" name=""/>
        <dsp:cNvSpPr/>
      </dsp:nvSpPr>
      <dsp:spPr>
        <a:xfrm>
          <a:off x="3644460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Lack of rule-based decision logic reduces clinical trust and consistency</a:t>
          </a:r>
        </a:p>
      </dsp:txBody>
      <dsp:txXfrm>
        <a:off x="3644460" y="2079665"/>
        <a:ext cx="2970673" cy="1782404"/>
      </dsp:txXfrm>
    </dsp:sp>
    <dsp:sp modelId="{6C18560D-7293-4707-8E8F-216FA59D8497}">
      <dsp:nvSpPr>
        <dsp:cNvPr id="0" name=""/>
        <dsp:cNvSpPr/>
      </dsp:nvSpPr>
      <dsp:spPr>
        <a:xfrm>
          <a:off x="6912201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limitations hinder accurate, reliable, and practical clinical decisions</a:t>
          </a:r>
        </a:p>
      </dsp:txBody>
      <dsp:txXfrm>
        <a:off x="6912201" y="2079665"/>
        <a:ext cx="2970673" cy="1782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00A3F-8141-42FF-BB78-4906CA8814AA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AF226-3276-4436-BC4F-89B8C247FED0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E4D16-9F2F-4E12-A8CD-DD3DA5ADB3D7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Multifactorial Clinical Analysis Framework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4592"/>
        <a:ext cx="5171698" cy="978270"/>
      </dsp:txXfrm>
    </dsp:sp>
    <dsp:sp modelId="{DC7416BE-3D9B-4861-9A40-2FDE05EEA569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9D03A-1C0D-4942-91F2-63FF476D3341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940EC-DEA0-4793-9107-799359133071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Stepwise, Clinically Approved Diagnostic Workflow</a:t>
          </a:r>
          <a:br>
            <a:rPr lang="en-US" sz="1600" kern="1200"/>
          </a:br>
          <a:endParaRPr lang="en-US" sz="1600" kern="1200"/>
        </a:p>
      </dsp:txBody>
      <dsp:txXfrm>
        <a:off x="1129902" y="1227431"/>
        <a:ext cx="5171698" cy="978270"/>
      </dsp:txXfrm>
    </dsp:sp>
    <dsp:sp modelId="{D1D036A0-29C3-4DE8-9CD2-6F21BC3ADEF9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25792-93A7-4C19-A20D-97227DE0485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A0EED-DFFF-4240-B92B-45B286A70EC2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Hybrid Machine Learning and Deep Learning Architecture</a:t>
          </a:r>
          <a:br>
            <a:rPr lang="en-US" sz="1600" kern="1200"/>
          </a:br>
          <a:endParaRPr lang="en-US" sz="1600" kern="1200"/>
        </a:p>
      </dsp:txBody>
      <dsp:txXfrm>
        <a:off x="1129902" y="2450269"/>
        <a:ext cx="5171698" cy="978270"/>
      </dsp:txXfrm>
    </dsp:sp>
    <dsp:sp modelId="{DF890F58-2773-4481-B386-B0A512B059FF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E8C73-AE26-42AF-BAA4-BD64815C6910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13DED-87A1-4DDE-9687-FF0AD72AA5F5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Correlation of Cross-Modal Medical Findings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3673107"/>
        <a:ext cx="5171698" cy="978270"/>
      </dsp:txXfrm>
    </dsp:sp>
    <dsp:sp modelId="{551FB11C-53F5-4959-84B5-E5254D19466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FF949-D795-4FF9-A391-E86FC52291C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CE0B2-8E7B-43BE-87EE-6781AD2201B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Custom-Trained Medical LLM for Clinical Reporting and Decision Support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FD623-C3D0-48EC-A798-B001BD4B806E}">
      <dsp:nvSpPr>
        <dsp:cNvPr id="0" name=""/>
        <dsp:cNvSpPr/>
      </dsp:nvSpPr>
      <dsp:spPr>
        <a:xfrm>
          <a:off x="1328151" y="41044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59F1A-A3A6-4D2C-9AD6-6DAFC29A36C3}">
      <dsp:nvSpPr>
        <dsp:cNvPr id="0" name=""/>
        <dsp:cNvSpPr/>
      </dsp:nvSpPr>
      <dsp:spPr>
        <a:xfrm>
          <a:off x="1576394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A75F5-5974-4420-A1B4-8DC1E1B4DD9B}">
      <dsp:nvSpPr>
        <dsp:cNvPr id="0" name=""/>
        <dsp:cNvSpPr/>
      </dsp:nvSpPr>
      <dsp:spPr>
        <a:xfrm>
          <a:off x="2763569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Rule-based interpretation was implemented for CBC, CRP,and electrolyte parameters relevant to cardiac pathology.</a:t>
          </a:r>
        </a:p>
      </dsp:txBody>
      <dsp:txXfrm>
        <a:off x="2763569" y="41044"/>
        <a:ext cx="2786398" cy="1182108"/>
      </dsp:txXfrm>
    </dsp:sp>
    <dsp:sp modelId="{7918E415-1D86-45A4-BF6A-963DE741A3D0}">
      <dsp:nvSpPr>
        <dsp:cNvPr id="0" name=""/>
        <dsp:cNvSpPr/>
      </dsp:nvSpPr>
      <dsp:spPr>
        <a:xfrm>
          <a:off x="6035476" y="41044"/>
          <a:ext cx="1182108" cy="1182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9E8E9-5B08-4E9B-8241-CCFB0A63A930}">
      <dsp:nvSpPr>
        <dsp:cNvPr id="0" name=""/>
        <dsp:cNvSpPr/>
      </dsp:nvSpPr>
      <dsp:spPr>
        <a:xfrm>
          <a:off x="6283719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FFD4B-AA4E-411F-99A7-785D47C7B7BB}">
      <dsp:nvSpPr>
        <dsp:cNvPr id="0" name=""/>
        <dsp:cNvSpPr/>
      </dsp:nvSpPr>
      <dsp:spPr>
        <a:xfrm>
          <a:off x="7470894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Using 13 standard clinical parameters, an SVM-basedmodel achieved 91% accuracy in heart disease detection.</a:t>
          </a:r>
        </a:p>
      </dsp:txBody>
      <dsp:txXfrm>
        <a:off x="7470894" y="41044"/>
        <a:ext cx="2786398" cy="1182108"/>
      </dsp:txXfrm>
    </dsp:sp>
    <dsp:sp modelId="{36B21CC0-1795-4027-AFA1-862DD70FFD86}">
      <dsp:nvSpPr>
        <dsp:cNvPr id="0" name=""/>
        <dsp:cNvSpPr/>
      </dsp:nvSpPr>
      <dsp:spPr>
        <a:xfrm>
          <a:off x="1328151" y="2157745"/>
          <a:ext cx="1182108" cy="1182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3F33D-D4EF-419E-AFA2-E4520957EBE6}">
      <dsp:nvSpPr>
        <dsp:cNvPr id="0" name=""/>
        <dsp:cNvSpPr/>
      </dsp:nvSpPr>
      <dsp:spPr>
        <a:xfrm>
          <a:off x="1576394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BFB4-B4B4-47C8-807E-09B1F0541E46}">
      <dsp:nvSpPr>
        <dsp:cNvPr id="0" name=""/>
        <dsp:cNvSpPr/>
      </dsp:nvSpPr>
      <dsp:spPr>
        <a:xfrm>
          <a:off x="2763569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A 12-lead ECG analysis system was developed with 72clinically defined classes and subclasses.</a:t>
          </a:r>
        </a:p>
      </dsp:txBody>
      <dsp:txXfrm>
        <a:off x="2763569" y="2157745"/>
        <a:ext cx="2786398" cy="1182108"/>
      </dsp:txXfrm>
    </dsp:sp>
    <dsp:sp modelId="{DE0C266E-B461-4870-BC35-CBAC8083F349}">
      <dsp:nvSpPr>
        <dsp:cNvPr id="0" name=""/>
        <dsp:cNvSpPr/>
      </dsp:nvSpPr>
      <dsp:spPr>
        <a:xfrm>
          <a:off x="6035476" y="2157745"/>
          <a:ext cx="1182108" cy="1182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C555-4309-4151-9FF0-87AA26CFB23A}">
      <dsp:nvSpPr>
        <dsp:cNvPr id="0" name=""/>
        <dsp:cNvSpPr/>
      </dsp:nvSpPr>
      <dsp:spPr>
        <a:xfrm>
          <a:off x="6283719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95B91-6BAE-4CE9-A563-01A0857B4204}">
      <dsp:nvSpPr>
        <dsp:cNvPr id="0" name=""/>
        <dsp:cNvSpPr/>
      </dsp:nvSpPr>
      <dsp:spPr>
        <a:xfrm>
          <a:off x="7470894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R-peak detection and beat segmentation enabled detailedelectrical activity analysis.</a:t>
          </a:r>
        </a:p>
      </dsp:txBody>
      <dsp:txXfrm>
        <a:off x="7470894" y="2157745"/>
        <a:ext cx="2786398" cy="1182108"/>
      </dsp:txXfrm>
    </dsp:sp>
    <dsp:sp modelId="{ACB8ADEA-6476-4A8C-BB6E-B0D04B32C986}">
      <dsp:nvSpPr>
        <dsp:cNvPr id="0" name=""/>
        <dsp:cNvSpPr/>
      </dsp:nvSpPr>
      <dsp:spPr>
        <a:xfrm>
          <a:off x="1328151" y="4274445"/>
          <a:ext cx="1182108" cy="11821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C2908-F876-4ECF-9188-BBBD80CB4B73}">
      <dsp:nvSpPr>
        <dsp:cNvPr id="0" name=""/>
        <dsp:cNvSpPr/>
      </dsp:nvSpPr>
      <dsp:spPr>
        <a:xfrm>
          <a:off x="1576394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7C3EB-F3EB-426E-AC16-9675AB87A710}">
      <dsp:nvSpPr>
        <dsp:cNvPr id="0" name=""/>
        <dsp:cNvSpPr/>
      </dsp:nvSpPr>
      <dsp:spPr>
        <a:xfrm>
          <a:off x="2763569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Echocardiography processing extracted left ventriculararea, shape, axis, eccentricity, and wall thicknessparameters.</a:t>
          </a:r>
        </a:p>
      </dsp:txBody>
      <dsp:txXfrm>
        <a:off x="2763569" y="4274445"/>
        <a:ext cx="2786398" cy="1182108"/>
      </dsp:txXfrm>
    </dsp:sp>
    <dsp:sp modelId="{BFA46373-9177-407E-852C-248F7161F399}">
      <dsp:nvSpPr>
        <dsp:cNvPr id="0" name=""/>
        <dsp:cNvSpPr/>
      </dsp:nvSpPr>
      <dsp:spPr>
        <a:xfrm>
          <a:off x="6035476" y="4274445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DD76B-1C64-4D49-81CB-A123E1FA85F2}">
      <dsp:nvSpPr>
        <dsp:cNvPr id="0" name=""/>
        <dsp:cNvSpPr/>
      </dsp:nvSpPr>
      <dsp:spPr>
        <a:xfrm>
          <a:off x="6283719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D2245-E674-4D59-8EA3-2AD80E60E5F4}">
      <dsp:nvSpPr>
        <dsp:cNvPr id="0" name=""/>
        <dsp:cNvSpPr/>
      </dsp:nvSpPr>
      <dsp:spPr>
        <a:xfrm>
          <a:off x="7470894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Disease possibility was inferred by correlating laboratory,ECG, and imaging findings through rule-guided logic.</a:t>
          </a:r>
        </a:p>
      </dsp:txBody>
      <dsp:txXfrm>
        <a:off x="7470894" y="4274445"/>
        <a:ext cx="2786398" cy="1182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50F25-A021-E146-ED77-EB1862904AC0}"/>
              </a:ext>
            </a:extLst>
          </p:cNvPr>
          <p:cNvSpPr txBox="1"/>
          <p:nvPr/>
        </p:nvSpPr>
        <p:spPr>
          <a:xfrm>
            <a:off x="1022743" y="586936"/>
            <a:ext cx="983614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TOPIC :</a:t>
            </a:r>
            <a:r>
              <a:rPr lang="en-US"/>
              <a:t> </a:t>
            </a:r>
            <a:r>
              <a:rPr lang="en-US" b="1">
                <a:ea typeface="+mn-lt"/>
                <a:cs typeface="+mn-lt"/>
              </a:rPr>
              <a:t>PATIENT</a:t>
            </a:r>
            <a:r>
              <a:rPr lang="en-US" b="1"/>
              <a:t> MALADY DETECTION USING MACHINE LEARNING AND</a:t>
            </a:r>
          </a:p>
          <a:p>
            <a:pPr algn="ctr"/>
            <a:r>
              <a:rPr lang="en-US" b="1"/>
              <a:t>DEEP LEARNING APPROACHES </a:t>
            </a:r>
          </a:p>
          <a:p>
            <a:pPr algn="ctr"/>
            <a:r>
              <a:rPr lang="en-US" sz="2000">
                <a:ea typeface="+mn-lt"/>
                <a:cs typeface="+mn-lt"/>
              </a:rPr>
              <a:t>( Focus : Intelligent Healthcare System for Heart Disease Detection using Machine Learning and Deep Learning)</a:t>
            </a:r>
            <a:r>
              <a:rPr lang="en-US">
                <a:ea typeface="+mn-lt"/>
                <a:cs typeface="+mn-lt"/>
              </a:rPr>
              <a:t>   -- PROJ3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A3C3A-5784-9533-4945-60534DBF9E7E}"/>
              </a:ext>
            </a:extLst>
          </p:cNvPr>
          <p:cNvSpPr txBox="1"/>
          <p:nvPr/>
        </p:nvSpPr>
        <p:spPr>
          <a:xfrm>
            <a:off x="2595253" y="3251186"/>
            <a:ext cx="670356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RCC INSTITUTE OF INFORMATION TECHNOLOGY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Course Name :</a:t>
            </a:r>
            <a:r>
              <a:rPr lang="en-US"/>
              <a:t>  Project-II</a:t>
            </a:r>
          </a:p>
          <a:p>
            <a:pPr algn="ctr"/>
            <a:r>
              <a:rPr lang="en-US" b="1"/>
              <a:t>Course Code : </a:t>
            </a:r>
            <a:r>
              <a:rPr lang="en-US"/>
              <a:t>PROJ-IT781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Team Member : </a:t>
            </a:r>
            <a:br>
              <a:rPr lang="en-US"/>
            </a:br>
            <a:r>
              <a:rPr lang="en-US"/>
              <a:t>       Pradipta Kumar Talukdar ( 11700222071 )</a:t>
            </a:r>
          </a:p>
          <a:p>
            <a:pPr algn="ctr"/>
            <a:r>
              <a:rPr lang="en-US"/>
              <a:t>       Swapnadeep Podder  ( 11700222009 )</a:t>
            </a:r>
          </a:p>
          <a:p>
            <a:pPr algn="ctr"/>
            <a:r>
              <a:rPr lang="en-US"/>
              <a:t>       Sarmistha Moharer  ( 11700222124 ) </a:t>
            </a:r>
          </a:p>
          <a:p>
            <a:pPr algn="ctr"/>
            <a:r>
              <a:rPr lang="en-US"/>
              <a:t>       Nandita Paul  ( 11700222101 )</a:t>
            </a:r>
          </a:p>
          <a:p>
            <a:pPr algn="ctr"/>
            <a:endParaRPr lang="en-US"/>
          </a:p>
          <a:p>
            <a:pPr algn="ctr"/>
            <a:r>
              <a:rPr lang="en-US"/>
              <a:t>Under Supervision of  </a:t>
            </a:r>
            <a:r>
              <a:rPr lang="en-US" b="1"/>
              <a:t>Mr. Monojit Manna 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55974A-0886-291E-55E0-6E18C868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287" y="2031761"/>
            <a:ext cx="695325" cy="1228725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AEF196-720A-D641-73D4-1B052790D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6" y="2041942"/>
            <a:ext cx="12287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DFD67-E490-C432-89BC-960226AF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>
                <a:latin typeface="Aptos"/>
              </a:rPr>
              <a:t>Problem Description :  Patient Malady Detection using Machine Learning  &amp; Deep Learning</a:t>
            </a:r>
            <a:br>
              <a:rPr lang="en-US" sz="2800" b="1">
                <a:latin typeface="Aptos"/>
              </a:rPr>
            </a:br>
            <a:r>
              <a:rPr lang="en-US" sz="2800" b="1">
                <a:latin typeface="Aptos"/>
              </a:rPr>
              <a:t>(Focus: Cardiovascular Disease)</a:t>
            </a:r>
            <a:endParaRPr lang="en-US" sz="2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5" name="Content Placeholder 3">
            <a:extLst>
              <a:ext uri="{FF2B5EF4-FFF2-40B4-BE49-F238E27FC236}">
                <a16:creationId xmlns:a16="http://schemas.microsoft.com/office/drawing/2014/main" id="{C588ED55-6650-5A08-59FC-65C164113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734174"/>
              </p:ext>
            </p:extLst>
          </p:nvPr>
        </p:nvGraphicFramePr>
        <p:xfrm>
          <a:off x="968071" y="2253907"/>
          <a:ext cx="10259595" cy="3862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367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38C0-602C-DCBD-0750-2E07C4E0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701DAB1-8B5E-4DDA-2B72-295DFF375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CDA66-3052-DD26-BFCD-CF4186ED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B7CBF-A83C-98A2-CC75-9FCD3464C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73ECA-A8C9-3857-5625-9E9675677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FD69-65A1-B568-CC0B-3D3311D39468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F9447-DAB2-3E04-464C-060A08D508F1}"/>
              </a:ext>
            </a:extLst>
          </p:cNvPr>
          <p:cNvGraphicFramePr>
            <a:graphicFrameLocks noGrp="1"/>
          </p:cNvGraphicFramePr>
          <p:nvPr/>
        </p:nvGraphicFramePr>
        <p:xfrm>
          <a:off x="848810" y="1697620"/>
          <a:ext cx="10067426" cy="4749651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657089">
                  <a:extLst>
                    <a:ext uri="{9D8B030D-6E8A-4147-A177-3AD203B41FA5}">
                      <a16:colId xmlns:a16="http://schemas.microsoft.com/office/drawing/2014/main" val="1704166847"/>
                    </a:ext>
                  </a:extLst>
                </a:gridCol>
                <a:gridCol w="2446663">
                  <a:extLst>
                    <a:ext uri="{9D8B030D-6E8A-4147-A177-3AD203B41FA5}">
                      <a16:colId xmlns:a16="http://schemas.microsoft.com/office/drawing/2014/main" val="3508543332"/>
                    </a:ext>
                  </a:extLst>
                </a:gridCol>
                <a:gridCol w="1988034">
                  <a:extLst>
                    <a:ext uri="{9D8B030D-6E8A-4147-A177-3AD203B41FA5}">
                      <a16:colId xmlns:a16="http://schemas.microsoft.com/office/drawing/2014/main" val="2788575122"/>
                    </a:ext>
                  </a:extLst>
                </a:gridCol>
                <a:gridCol w="1992428">
                  <a:extLst>
                    <a:ext uri="{9D8B030D-6E8A-4147-A177-3AD203B41FA5}">
                      <a16:colId xmlns:a16="http://schemas.microsoft.com/office/drawing/2014/main" val="3427171700"/>
                    </a:ext>
                  </a:extLst>
                </a:gridCol>
                <a:gridCol w="1983212">
                  <a:extLst>
                    <a:ext uri="{9D8B030D-6E8A-4147-A177-3AD203B41FA5}">
                      <a16:colId xmlns:a16="http://schemas.microsoft.com/office/drawing/2014/main" val="200089580"/>
                    </a:ext>
                  </a:extLst>
                </a:gridCol>
              </a:tblGrid>
              <a:tr h="92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Author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Paper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Challenges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Contribution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895610"/>
                  </a:ext>
                </a:extLst>
              </a:tr>
              <a:tr h="105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Smith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Explainable Machine Learning Models for Clinical Decision Support: Challenges and Future Directions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Lack of model explainability, clinician trust issues, and data bias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Need for explainable and transparent AI models suitable for real-time clinical use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Machine learning models improved accuracy in laboratory result interpretation and assisted clinicians in diagnosis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33831"/>
                  </a:ext>
                </a:extLst>
              </a:tr>
              <a:tr h="85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Lee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 Hybrid Rule-Based and Machine Learning Framework for Medical Decision Support Systems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Limited scalability, rigid rule structures, and difficulty handling complex cases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Hybrid systems combining rule-based logic with machine learning for better adaptability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Rule-based systems provided clear and interpretable medical decision support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6547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Johnson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C-Reactive Protein Combined with Clinical Indicators for Predicting Cardiovascular Events</a:t>
                      </a:r>
                      <a:endParaRPr lang="en-US" i="1"/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Focused on a single biomarker, limited predictive capability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Multi-parameter models integrating CRP with other clinical indicators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Identified a strong correlation between C-reactive protein levels and cardiovascular disease risk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754984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Kumar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Evaluating AI-Enabled Healthcare Chatbots: Accuracy, Privacy, and Clinical Validation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Inaccurate responses, privacy concerns, and lack of medical validation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Clinically validated chatbot systems integrated with healthcare databases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AI chatbots enhanced early symptom collection and improved patient engagement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7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11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902F6-A594-49D8-E9DC-C1DC6DF4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77EBFEB-32FC-80FE-E178-5852D4F07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2AEA04-8106-F132-5B08-ACE8FF68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B33E0-E5D7-DDDC-DBCF-30F30B5D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Aptos"/>
              </a:rPr>
              <a:t>Proposed Solution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62" name="Graphic 38">
            <a:extLst>
              <a:ext uri="{FF2B5EF4-FFF2-40B4-BE49-F238E27FC236}">
                <a16:creationId xmlns:a16="http://schemas.microsoft.com/office/drawing/2014/main" id="{25128DD9-4301-E81A-E79E-0EC23904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EBD2E4F-9612-6628-E2A7-E6F6B492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12DA84B-674B-9F1C-FD6F-207573AC6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F372942C-AD49-4AD5-5D06-92E4C2D3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737E898-E978-158E-A219-E8C22AC7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1" name="Graphic 4">
            <a:extLst>
              <a:ext uri="{FF2B5EF4-FFF2-40B4-BE49-F238E27FC236}">
                <a16:creationId xmlns:a16="http://schemas.microsoft.com/office/drawing/2014/main" id="{5B4272C9-2BCE-7221-79B3-68EC38F2F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220ECA4-9288-6BEB-B93C-3F8C9C973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D3A9A73-B7A3-D551-52B1-71DF3877C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2268613-EEC2-DD91-6E12-A70A4943E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29CF7D-8B34-E5CB-6DE9-71FF8AA4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58D66B-5443-E03C-5C26-F5FC68208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2794048-6A35-D643-5D04-B6E9D7630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16DC06D-0C49-E90C-3A73-88FC8B324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2C1888-B623-3776-02CC-E74A1375A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6E651BF-EE96-5A42-289C-5AD1D25D7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21F595-D329-E067-B5D1-F8589BAA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0633400-4BC7-4DD9-BA5C-BD1957E2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2CEA067-FB4C-D871-6CED-5C3F798ED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00990A5-78CE-0A96-9D87-67B8BF7A6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8B6E3C2E-B182-0AF3-50F6-93F548E8C5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39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646168-2C6A-793C-F99B-EBFD3948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948064" cy="1704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Workflow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1DDBA-6F3D-AC70-B3CD-5466511A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71" t="3922" r="2812" b="6536"/>
          <a:stretch>
            <a:fillRect/>
          </a:stretch>
        </p:blipFill>
        <p:spPr>
          <a:xfrm>
            <a:off x="4152491" y="478413"/>
            <a:ext cx="7365327" cy="591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5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C1E162C-0382-260C-DEAC-4CAEFE3AA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315424"/>
              </p:ext>
            </p:extLst>
          </p:nvPr>
        </p:nvGraphicFramePr>
        <p:xfrm>
          <a:off x="216084" y="953922"/>
          <a:ext cx="11585445" cy="5497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A276CDD2-EB92-EF8F-5F86-BD6526D04776}"/>
              </a:ext>
            </a:extLst>
          </p:cNvPr>
          <p:cNvSpPr txBox="1"/>
          <p:nvPr/>
        </p:nvSpPr>
        <p:spPr>
          <a:xfrm>
            <a:off x="211589" y="172523"/>
            <a:ext cx="431313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: </a:t>
            </a:r>
          </a:p>
        </p:txBody>
      </p:sp>
    </p:spTree>
    <p:extLst>
      <p:ext uri="{BB962C8B-B14F-4D97-AF65-F5344CB8AC3E}">
        <p14:creationId xmlns:p14="http://schemas.microsoft.com/office/powerpoint/2010/main" val="14816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2CEB5A12-6B85-620D-F155-69450E71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795" y="2588711"/>
            <a:ext cx="4564410" cy="4384111"/>
          </a:xfrm>
          <a:prstGeom prst="rect">
            <a:avLst/>
          </a:prstGeom>
        </p:spPr>
      </p:pic>
      <p:pic>
        <p:nvPicPr>
          <p:cNvPr id="3" name="Picture 2" descr="A collage of images of a person&amp;#39;s body&#10;&#10;AI-generated content may be incorrect.">
            <a:extLst>
              <a:ext uri="{FF2B5EF4-FFF2-40B4-BE49-F238E27FC236}">
                <a16:creationId xmlns:a16="http://schemas.microsoft.com/office/drawing/2014/main" id="{E53B818D-4770-1A9B-7089-A6348A54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17" y="0"/>
            <a:ext cx="825520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DA526-CEEF-5E3F-1C36-8D2F3CD05E0D}"/>
              </a:ext>
            </a:extLst>
          </p:cNvPr>
          <p:cNvSpPr txBox="1"/>
          <p:nvPr/>
        </p:nvSpPr>
        <p:spPr>
          <a:xfrm>
            <a:off x="9105266" y="900380"/>
            <a:ext cx="223677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– II </a:t>
            </a:r>
          </a:p>
        </p:txBody>
      </p:sp>
    </p:spTree>
    <p:extLst>
      <p:ext uri="{BB962C8B-B14F-4D97-AF65-F5344CB8AC3E}">
        <p14:creationId xmlns:p14="http://schemas.microsoft.com/office/powerpoint/2010/main" val="59929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B50B51-E574-983C-8BCA-B80702FD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1CF5F2-EBEF-8F73-991B-442B9CF4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24252"/>
            <a:ext cx="9724031" cy="3714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J. Smith and R. Allen, “Clinical decision support systems in healthcare,” </a:t>
            </a:r>
            <a:r>
              <a:rPr lang="en-US" sz="1300" i="1"/>
              <a:t>Proc. IEEE Int. Conf. Healthcare Informatics (ICHI)</a:t>
            </a:r>
            <a:r>
              <a:rPr lang="en-US" sz="1300"/>
              <a:t>, Xi’an, China, pp. 1–6,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E. W. Johnson </a:t>
            </a:r>
            <a:r>
              <a:rPr lang="en-US" sz="1300" i="1"/>
              <a:t>et al.</a:t>
            </a:r>
            <a:r>
              <a:rPr lang="en-US" sz="1300"/>
              <a:t>, “MIMIC-III: A freely accessible critical care database,” </a:t>
            </a:r>
            <a:r>
              <a:rPr lang="en-US" sz="1300" i="1"/>
              <a:t>Scientific Data</a:t>
            </a:r>
            <a:r>
              <a:rPr lang="en-US" sz="1300"/>
              <a:t>, vol. 3, no. 1, Art. no. 160035, 2016.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(Widely used for cardiovascular and ICU research).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E. J. Topol, “High-performance medicine: The convergence of human and artificial intelligence,” </a:t>
            </a:r>
            <a:r>
              <a:rPr lang="en-US" sz="1300" i="1"/>
              <a:t>Nature Medicine</a:t>
            </a:r>
            <a:r>
              <a:rPr lang="en-US" sz="1300"/>
              <a:t>, vol. 25, pp. 44–56,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</a:t>
            </a:r>
            <a:r>
              <a:rPr lang="en-US" sz="1300" err="1"/>
              <a:t>Rajkomar</a:t>
            </a:r>
            <a:r>
              <a:rPr lang="en-US" sz="1300"/>
              <a:t>, J. Dean, and I. </a:t>
            </a:r>
            <a:r>
              <a:rPr lang="en-US" sz="1300" err="1"/>
              <a:t>Kohane</a:t>
            </a:r>
            <a:r>
              <a:rPr lang="en-US" sz="1300"/>
              <a:t>, “Machine learning in medicine,” </a:t>
            </a:r>
            <a:r>
              <a:rPr lang="en-US" sz="1300" i="1"/>
              <a:t>New England Journal of Medicine</a:t>
            </a:r>
            <a:r>
              <a:rPr lang="en-US" sz="1300"/>
              <a:t>, vol. 380, no. 14, pp. 1347–1358,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B. A. Goldstein, A. M. Navar, and M. J. </a:t>
            </a:r>
            <a:r>
              <a:rPr lang="en-US" sz="1300" err="1"/>
              <a:t>Pencina</a:t>
            </a:r>
            <a:r>
              <a:rPr lang="en-US" sz="1300"/>
              <a:t>, “Opportunities and challenges in developing risk prediction models with machine learning,” </a:t>
            </a:r>
            <a:r>
              <a:rPr lang="en-US" sz="1300" i="1"/>
              <a:t>Journal of the American College of Cardiology</a:t>
            </a:r>
            <a:r>
              <a:rPr lang="en-US" sz="1300"/>
              <a:t>, vol. 69, no. 7, pp. 845–847, 2017.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(Cardiology-specific ML paper).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World Health Organization, </a:t>
            </a:r>
            <a:r>
              <a:rPr lang="en-US" sz="1300" i="1"/>
              <a:t>Ethics and Governance of Artificial Intelligence for Health</a:t>
            </a:r>
            <a:r>
              <a:rPr lang="en-US" sz="1300"/>
              <a:t>. Geneva, Switzerland: WHO, 2021.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M. M. Ahsan </a:t>
            </a:r>
            <a:r>
              <a:rPr lang="en-US" sz="1300" i="1"/>
              <a:t>et al.</a:t>
            </a:r>
            <a:r>
              <a:rPr lang="en-US" sz="1300"/>
              <a:t>, “Machine-learning-based disease diagnosis: A comprehensive review,” </a:t>
            </a:r>
            <a:r>
              <a:rPr lang="en-US" sz="1300" i="1"/>
              <a:t>Healthcare</a:t>
            </a:r>
            <a:r>
              <a:rPr lang="en-US" sz="1300"/>
              <a:t>, vol. 10, no. 3, Art. no. 541, 2022.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C. Szegedy </a:t>
            </a:r>
            <a:r>
              <a:rPr lang="en-US" sz="1300" i="1"/>
              <a:t>et al.</a:t>
            </a:r>
            <a:r>
              <a:rPr lang="en-US" sz="1300"/>
              <a:t>, “Going deeper with convolutions,” </a:t>
            </a:r>
            <a:r>
              <a:rPr lang="en-US" sz="1300" i="1"/>
              <a:t>Proc. IEEE Conf. Computer Vision and Pattern Recognition (CVPR)</a:t>
            </a:r>
            <a:r>
              <a:rPr lang="en-US" sz="1300"/>
              <a:t>, Boston, MA, USA, pp. 1–9, 2015.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(Core CNN architecture used in cardiac imaging).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63424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Problem Description :  Patient Malady Detection using Machine Learning  &amp; Deep Learning (Focus: Cardiovascular Disease)</vt:lpstr>
      <vt:lpstr>PowerPoint Presentation</vt:lpstr>
      <vt:lpstr>Proposed Solution</vt:lpstr>
      <vt:lpstr>Project Workflow 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</cp:revision>
  <dcterms:created xsi:type="dcterms:W3CDTF">2025-12-17T11:16:31Z</dcterms:created>
  <dcterms:modified xsi:type="dcterms:W3CDTF">2025-12-18T03:21:15Z</dcterms:modified>
</cp:coreProperties>
</file>